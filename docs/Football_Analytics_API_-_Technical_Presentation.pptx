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56520" y="1670745"/>
            <a:ext cx="4830961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Football Analytics API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452985" y="2367260"/>
            <a:ext cx="423803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XJCO3011 Web Services and Web Data</a:t>
            </a:r>
            <a:r>
              <a:rPr lang="en-US" sz="170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70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Coursework 1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179987" y="3349526"/>
            <a:ext cx="78402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Leo Chen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20170" y="3628132"/>
            <a:ext cx="7036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4147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&amp; Objectives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43000"/>
            <a:ext cx="37790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MISSION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466255"/>
            <a:ext cx="7679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755452" y="1423392"/>
            <a:ext cx="35950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robust, </a:t>
            </a: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RESTful web service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Premier League football statistics.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020565"/>
            <a:ext cx="7679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755452" y="1977703"/>
            <a:ext cx="35950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 the gap between raw sports data and </a:t>
            </a: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programmable, analytical access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2574875"/>
            <a:ext cx="7679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55452" y="2532013"/>
            <a:ext cx="35950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 advanced </a:t>
            </a: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design principles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relational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modeling, and secure authentication.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372073"/>
            <a:ext cx="37790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CAPABILITIES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3695328"/>
            <a:ext cx="7679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755452" y="3652465"/>
            <a:ext cx="349329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CRUD management for Teams, Players, and Matches.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4043921"/>
            <a:ext cx="7679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755452" y="4001058"/>
            <a:ext cx="359509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data aggregation for dynamic league tables and rankings.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779169" y="1143000"/>
            <a:ext cx="3793331" cy="400050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49876" y="1858268"/>
            <a:ext cx="10590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3294" dirty="0"/>
          </a:p>
        </p:txBody>
      </p:sp>
      <p:sp>
        <p:nvSpPr>
          <p:cNvPr id="18" name="Text 15"/>
          <p:cNvSpPr/>
          <p:nvPr/>
        </p:nvSpPr>
        <p:spPr>
          <a:xfrm>
            <a:off x="6149876" y="2386905"/>
            <a:ext cx="10590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2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ENDPOINTS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991820" y="2810173"/>
            <a:ext cx="13751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294" dirty="0"/>
          </a:p>
        </p:txBody>
      </p:sp>
      <p:sp>
        <p:nvSpPr>
          <p:cNvPr id="20" name="Text 17"/>
          <p:cNvSpPr/>
          <p:nvPr/>
        </p:nvSpPr>
        <p:spPr>
          <a:xfrm>
            <a:off x="5991820" y="3338810"/>
            <a:ext cx="137517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2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DATA MODELS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6017716" y="3762077"/>
            <a:ext cx="13233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3294" dirty="0"/>
          </a:p>
        </p:txBody>
      </p:sp>
      <p:sp>
        <p:nvSpPr>
          <p:cNvPr id="22" name="Text 19"/>
          <p:cNvSpPr/>
          <p:nvPr/>
        </p:nvSpPr>
        <p:spPr>
          <a:xfrm>
            <a:off x="6017716" y="4290715"/>
            <a:ext cx="13233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2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TESTS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462379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&amp; Technology Stack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1839516" cy="285750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05508" y="1571625"/>
            <a:ext cx="571500" cy="5715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744" y="1728788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6015" y="2357438"/>
            <a:ext cx="103048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115318" y="2636044"/>
            <a:ext cx="7518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LOGIC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785813" y="2936081"/>
            <a:ext cx="1410891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for its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unparalleled ecosystem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data processing and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readability. Native async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enables non-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blocking I/O.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2625328" y="1285875"/>
            <a:ext cx="1839516" cy="285750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59336" y="1571625"/>
            <a:ext cx="571500" cy="5715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498" y="1728788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92363" y="2357438"/>
            <a:ext cx="70544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3078063" y="2636044"/>
            <a:ext cx="93404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683" dirty="0"/>
          </a:p>
        </p:txBody>
      </p:sp>
      <p:sp>
        <p:nvSpPr>
          <p:cNvPr id="15" name="Text 10"/>
          <p:cNvSpPr/>
          <p:nvPr/>
        </p:nvSpPr>
        <p:spPr>
          <a:xfrm>
            <a:off x="2839641" y="2936081"/>
            <a:ext cx="1410891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(Starlette)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strict type safety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(Pydantic). Auto-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interactive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UI docs.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4679156" y="1285875"/>
            <a:ext cx="1839516" cy="285750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13164" y="1571625"/>
            <a:ext cx="571500" cy="5715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180" y="1728788"/>
            <a:ext cx="321469" cy="2571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14020" y="2357438"/>
            <a:ext cx="116978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5173861" y="2636044"/>
            <a:ext cx="8501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</a:t>
            </a:r>
            <a:endParaRPr lang="en-US" sz="683" dirty="0"/>
          </a:p>
        </p:txBody>
      </p:sp>
      <p:sp>
        <p:nvSpPr>
          <p:cNvPr id="21" name="Text 15"/>
          <p:cNvSpPr/>
          <p:nvPr/>
        </p:nvSpPr>
        <p:spPr>
          <a:xfrm>
            <a:off x="4893469" y="2936081"/>
            <a:ext cx="1410891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Abstracts complex SQL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Pythonic objects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relational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and mitigates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injection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vulnerabilities.</a:t>
            </a:r>
            <a:endParaRPr lang="en-US" sz="834" dirty="0"/>
          </a:p>
        </p:txBody>
      </p:sp>
      <p:sp>
        <p:nvSpPr>
          <p:cNvPr id="22" name="Shape 16"/>
          <p:cNvSpPr/>
          <p:nvPr/>
        </p:nvSpPr>
        <p:spPr>
          <a:xfrm>
            <a:off x="6732984" y="1285875"/>
            <a:ext cx="1839516" cy="285750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366992" y="1571625"/>
            <a:ext cx="571500" cy="5715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228" y="1728788"/>
            <a:ext cx="225028" cy="2571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51812" y="2357438"/>
            <a:ext cx="6018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endParaRPr lang="en-US" sz="1193" dirty="0"/>
          </a:p>
        </p:txBody>
      </p:sp>
      <p:sp>
        <p:nvSpPr>
          <p:cNvPr id="26" name="Text 19"/>
          <p:cNvSpPr/>
          <p:nvPr/>
        </p:nvSpPr>
        <p:spPr>
          <a:xfrm>
            <a:off x="7365206" y="2636044"/>
            <a:ext cx="5750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683" dirty="0"/>
          </a:p>
        </p:txBody>
      </p:sp>
      <p:sp>
        <p:nvSpPr>
          <p:cNvPr id="27" name="Text 20"/>
          <p:cNvSpPr/>
          <p:nvPr/>
        </p:nvSpPr>
        <p:spPr>
          <a:xfrm>
            <a:off x="6947297" y="2936081"/>
            <a:ext cx="1410891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portability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supports standard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operations required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demonstrating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modeling.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405050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Database Schema Design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2476509" cy="3214688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25" y="1571625"/>
            <a:ext cx="57328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857250" y="2178844"/>
            <a:ext cx="189546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entity storing club information including name, city, stadium, manager, and budget.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382566"/>
            <a:ext cx="125016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9422" y="3353991"/>
            <a:ext cx="166329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1-to-Many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relationship with 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</a:t>
            </a:r>
            <a:endParaRPr lang="en-US" sz="78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764756"/>
            <a:ext cx="125016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9422" y="3736181"/>
            <a:ext cx="166329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1-to-Many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relationship with 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(Home)</a:t>
            </a:r>
            <a:endParaRPr lang="en-US" sz="7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146947"/>
            <a:ext cx="125016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89422" y="4118372"/>
            <a:ext cx="166329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1-to-Many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relationship with 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 (Away)</a:t>
            </a:r>
            <a:endParaRPr lang="en-US" sz="784" dirty="0"/>
          </a:p>
        </p:txBody>
      </p:sp>
      <p:sp>
        <p:nvSpPr>
          <p:cNvPr id="13" name="Shape 7"/>
          <p:cNvSpPr/>
          <p:nvPr/>
        </p:nvSpPr>
        <p:spPr>
          <a:xfrm>
            <a:off x="3324216" y="1285875"/>
            <a:ext cx="2481253" cy="3214688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738" y="1578769"/>
            <a:ext cx="200025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57638" y="1571625"/>
            <a:ext cx="6679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</a:t>
            </a:r>
            <a:endParaRPr lang="en-US" sz="1397" dirty="0"/>
          </a:p>
        </p:txBody>
      </p:sp>
      <p:sp>
        <p:nvSpPr>
          <p:cNvPr id="16" name="Text 9"/>
          <p:cNvSpPr/>
          <p:nvPr/>
        </p:nvSpPr>
        <p:spPr>
          <a:xfrm>
            <a:off x="3614738" y="2178844"/>
            <a:ext cx="190023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individual statistics such as goals, assists, appearances, and disciplinary cards.</a:t>
            </a:r>
            <a:endParaRPr lang="en-US" sz="942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738" y="3795117"/>
            <a:ext cx="100013" cy="1000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821906" y="3766542"/>
            <a:ext cx="14859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to exactly </a:t>
            </a: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Team</a:t>
            </a:r>
            <a:endParaRPr lang="en-US" sz="834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738" y="4039791"/>
            <a:ext cx="87511" cy="1000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809405" y="4011216"/>
            <a:ext cx="156626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</a:t>
            </a: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team_id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Foreign Key</a:t>
            </a:r>
            <a:endParaRPr lang="en-US" sz="834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4738" y="4284464"/>
            <a:ext cx="112514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834408" y="4255889"/>
            <a:ext cx="15501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Establishes a clear hierarchy</a:t>
            </a:r>
            <a:endParaRPr lang="en-US" sz="834" dirty="0"/>
          </a:p>
        </p:txBody>
      </p:sp>
      <p:sp>
        <p:nvSpPr>
          <p:cNvPr id="23" name="Shape 13"/>
          <p:cNvSpPr/>
          <p:nvPr/>
        </p:nvSpPr>
        <p:spPr>
          <a:xfrm>
            <a:off x="6086475" y="1285875"/>
            <a:ext cx="2486025" cy="3214688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69" y="1578769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753244" y="1571625"/>
            <a:ext cx="66436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</a:t>
            </a:r>
            <a:endParaRPr lang="en-US" sz="1397" dirty="0"/>
          </a:p>
        </p:txBody>
      </p:sp>
      <p:sp>
        <p:nvSpPr>
          <p:cNvPr id="26" name="Text 15"/>
          <p:cNvSpPr/>
          <p:nvPr/>
        </p:nvSpPr>
        <p:spPr>
          <a:xfrm>
            <a:off x="6381769" y="2178844"/>
            <a:ext cx="19050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the outcome and detailed statistics of a game, including possession and shots.</a:t>
            </a:r>
            <a:endParaRPr lang="en-US" sz="942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69" y="3795117"/>
            <a:ext cx="100013" cy="100013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588937" y="3766542"/>
            <a:ext cx="14626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</a:t>
            </a: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Foreign Keys</a:t>
            </a:r>
            <a:endParaRPr lang="en-US" sz="834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69" y="4039791"/>
            <a:ext cx="87511" cy="100013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576436" y="4011216"/>
            <a:ext cx="16269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home_team_id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points to Team</a:t>
            </a:r>
            <a:endParaRPr lang="en-US" sz="784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69" y="4284464"/>
            <a:ext cx="87511" cy="100013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576436" y="4255889"/>
            <a:ext cx="160198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away_team_id</a:t>
            </a:r>
            <a:r>
              <a:rPr lang="en-US" sz="834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points to Team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460414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API Functionality: CRUD Operations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07269"/>
            <a:ext cx="1600200" cy="46970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2171700" y="1007269"/>
            <a:ext cx="2000250" cy="46970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(PUBLIC)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171950" y="1007269"/>
            <a:ext cx="2000250" cy="46970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(SECURED)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172200" y="1007269"/>
            <a:ext cx="2400300" cy="469702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CAPABILITIES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1476970"/>
            <a:ext cx="1600200" cy="847204"/>
          </a:xfrm>
          <a:prstGeom prst="rect">
            <a:avLst/>
          </a:prstGeom>
          <a:noFill/>
          <a:ln/>
        </p:spPr>
        <p:txBody>
          <a:bodyPr wrap="square" lIns="0" tIns="255143" rIns="0" bIns="255143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171700" y="1709142"/>
            <a:ext cx="840116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171700" y="1709142"/>
            <a:ext cx="840116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/teams/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2171700" y="1914860"/>
            <a:ext cx="1114425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171700" y="1914860"/>
            <a:ext cx="1114425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/teams/{id}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171950" y="1709142"/>
            <a:ext cx="1251607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171950" y="1709142"/>
            <a:ext cx="1251607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POST, PUT, DELETE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6172200" y="1719858"/>
            <a:ext cx="523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695480" y="1719858"/>
            <a:ext cx="2321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172200" y="1925575"/>
            <a:ext cx="6465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6818709" y="1925575"/>
            <a:ext cx="3446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571500" y="2324174"/>
            <a:ext cx="1600200" cy="847204"/>
          </a:xfrm>
          <a:prstGeom prst="rect">
            <a:avLst/>
          </a:prstGeom>
          <a:noFill/>
          <a:ln/>
        </p:spPr>
        <p:txBody>
          <a:bodyPr wrap="square" lIns="0" tIns="255143" rIns="0" bIns="255143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2171700" y="2556346"/>
            <a:ext cx="977271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171700" y="2556346"/>
            <a:ext cx="977271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/players/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2171700" y="2762064"/>
            <a:ext cx="1251607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171700" y="2762064"/>
            <a:ext cx="1251607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/players/{id}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4171950" y="2556346"/>
            <a:ext cx="1251607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171950" y="2556346"/>
            <a:ext cx="1251607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POST, PUT, DELETE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6172200" y="2567062"/>
            <a:ext cx="523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6695480" y="2567062"/>
            <a:ext cx="16055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team, position, nationality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6172200" y="2772780"/>
            <a:ext cx="4714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by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643688" y="2772780"/>
            <a:ext cx="1268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goals, assists, cards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571500" y="3171379"/>
            <a:ext cx="1600200" cy="850776"/>
          </a:xfrm>
          <a:prstGeom prst="rect">
            <a:avLst/>
          </a:prstGeom>
          <a:noFill/>
          <a:ln/>
        </p:spPr>
        <p:txBody>
          <a:bodyPr wrap="square" lIns="0" tIns="255143" rIns="0" bIns="255143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Matches</a:t>
            </a:r>
            <a:endParaRPr lang="en-US" sz="1193" dirty="0"/>
          </a:p>
        </p:txBody>
      </p:sp>
      <p:sp>
        <p:nvSpPr>
          <p:cNvPr id="31" name="Shape 28"/>
          <p:cNvSpPr/>
          <p:nvPr/>
        </p:nvSpPr>
        <p:spPr>
          <a:xfrm>
            <a:off x="2171700" y="3403550"/>
            <a:ext cx="977271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2171700" y="3403550"/>
            <a:ext cx="977271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/matches/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2171700" y="3609268"/>
            <a:ext cx="1251607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2171700" y="3609268"/>
            <a:ext cx="1251607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/matches/{id}</a:t>
            </a:r>
            <a:endParaRPr lang="en-US" sz="834" dirty="0"/>
          </a:p>
        </p:txBody>
      </p:sp>
      <p:sp>
        <p:nvSpPr>
          <p:cNvPr id="35" name="Shape 32"/>
          <p:cNvSpPr/>
          <p:nvPr/>
        </p:nvSpPr>
        <p:spPr>
          <a:xfrm>
            <a:off x="4171950" y="3403550"/>
            <a:ext cx="1251607" cy="183952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4171950" y="3403550"/>
            <a:ext cx="1251607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POST, PUT, DELETE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6172200" y="3414266"/>
            <a:ext cx="523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6695480" y="3414266"/>
            <a:ext cx="8340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season, team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6172200" y="3619984"/>
            <a:ext cx="5232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</a:t>
            </a:r>
            <a:endParaRPr lang="en-US" sz="942" dirty="0"/>
          </a:p>
        </p:txBody>
      </p:sp>
      <p:sp>
        <p:nvSpPr>
          <p:cNvPr id="40" name="Text 37"/>
          <p:cNvSpPr/>
          <p:nvPr/>
        </p:nvSpPr>
        <p:spPr>
          <a:xfrm>
            <a:off x="6695480" y="3619984"/>
            <a:ext cx="6643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</a:t>
            </a:r>
            <a:endParaRPr lang="en-US" sz="885" dirty="0"/>
          </a:p>
        </p:txBody>
      </p:sp>
      <p:sp>
        <p:nvSpPr>
          <p:cNvPr id="41" name="Shape 38"/>
          <p:cNvSpPr/>
          <p:nvPr/>
        </p:nvSpPr>
        <p:spPr>
          <a:xfrm>
            <a:off x="571500" y="4315048"/>
            <a:ext cx="8001000" cy="748308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596333"/>
            <a:ext cx="171450" cy="17145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1135856" y="4529361"/>
            <a:ext cx="12751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 Pagination</a:t>
            </a:r>
            <a:endParaRPr lang="en-US" sz="885" dirty="0"/>
          </a:p>
        </p:txBody>
      </p:sp>
      <p:sp>
        <p:nvSpPr>
          <p:cNvPr id="44" name="Text 40"/>
          <p:cNvSpPr/>
          <p:nvPr/>
        </p:nvSpPr>
        <p:spPr>
          <a:xfrm>
            <a:off x="1135856" y="4713312"/>
            <a:ext cx="18984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&amp; page_size parameters on all lists</a:t>
            </a:r>
            <a:endParaRPr lang="en-US" sz="727" dirty="0"/>
          </a:p>
        </p:txBody>
      </p:sp>
      <p:sp>
        <p:nvSpPr>
          <p:cNvPr id="45" name="Text 41"/>
          <p:cNvSpPr/>
          <p:nvPr/>
        </p:nvSpPr>
        <p:spPr>
          <a:xfrm>
            <a:off x="3633490" y="4529361"/>
            <a:ext cx="9822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Validation</a:t>
            </a:r>
            <a:endParaRPr lang="en-US" sz="885" dirty="0"/>
          </a:p>
        </p:txBody>
      </p:sp>
      <p:sp>
        <p:nvSpPr>
          <p:cNvPr id="46" name="Text 42"/>
          <p:cNvSpPr/>
          <p:nvPr/>
        </p:nvSpPr>
        <p:spPr>
          <a:xfrm>
            <a:off x="3633490" y="4713312"/>
            <a:ext cx="190202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 schemas enforce data integrity</a:t>
            </a:r>
            <a:endParaRPr lang="en-US" sz="727" dirty="0"/>
          </a:p>
        </p:txBody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539" y="4596333"/>
            <a:ext cx="128588" cy="17145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263283" y="4529361"/>
            <a:ext cx="15448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Responses</a:t>
            </a:r>
            <a:endParaRPr lang="en-US" sz="885" dirty="0"/>
          </a:p>
        </p:txBody>
      </p:sp>
      <p:sp>
        <p:nvSpPr>
          <p:cNvPr id="49" name="Text 44"/>
          <p:cNvSpPr/>
          <p:nvPr/>
        </p:nvSpPr>
        <p:spPr>
          <a:xfrm>
            <a:off x="6263283" y="4713312"/>
            <a:ext cx="20234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JSON structures &amp; HTTP codes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48436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Analytics Endpoints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928688"/>
            <a:ext cx="2571750" cy="218383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1513" y="1028700"/>
            <a:ext cx="357188" cy="35718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81" y="1121569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028700"/>
            <a:ext cx="19002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League Table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1143000" y="1244798"/>
            <a:ext cx="1900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/analytics/league-table</a:t>
            </a:r>
            <a:endParaRPr lang="en-US" sz="727" dirty="0"/>
          </a:p>
        </p:txBody>
      </p:sp>
      <p:sp>
        <p:nvSpPr>
          <p:cNvPr id="9" name="Text 5"/>
          <p:cNvSpPr/>
          <p:nvPr/>
        </p:nvSpPr>
        <p:spPr>
          <a:xfrm>
            <a:off x="1143000" y="1423392"/>
            <a:ext cx="19002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standings from match results (points, GD, W/D/L).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3286125" y="928688"/>
            <a:ext cx="2571750" cy="218383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86138" y="1028700"/>
            <a:ext cx="357188" cy="35718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006" y="1121569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57625" y="1028700"/>
            <a:ext cx="19002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Performance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3857625" y="1244798"/>
            <a:ext cx="190023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/analytics/team-performance/{id}</a:t>
            </a:r>
            <a:endParaRPr lang="en-US" sz="727" dirty="0"/>
          </a:p>
        </p:txBody>
      </p:sp>
      <p:sp>
        <p:nvSpPr>
          <p:cNvPr id="15" name="Text 10"/>
          <p:cNvSpPr/>
          <p:nvPr/>
        </p:nvSpPr>
        <p:spPr>
          <a:xfrm>
            <a:off x="3857625" y="1559123"/>
            <a:ext cx="19002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metrics including home/away form and scoring averages.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6000750" y="928688"/>
            <a:ext cx="2571750" cy="2176695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100763" y="1028700"/>
            <a:ext cx="357188" cy="35718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Text 13"/>
          <p:cNvSpPr/>
          <p:nvPr/>
        </p:nvSpPr>
        <p:spPr>
          <a:xfrm>
            <a:off x="6572250" y="1028700"/>
            <a:ext cx="19002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Rankings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6572250" y="1244798"/>
            <a:ext cx="1900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/analytics/player-rankings</a:t>
            </a:r>
            <a:endParaRPr lang="en-US" sz="727" dirty="0"/>
          </a:p>
        </p:txBody>
      </p:sp>
      <p:sp>
        <p:nvSpPr>
          <p:cNvPr id="20" name="Text 15"/>
          <p:cNvSpPr/>
          <p:nvPr/>
        </p:nvSpPr>
        <p:spPr>
          <a:xfrm>
            <a:off x="6572250" y="1423392"/>
            <a:ext cx="19002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players sorted by goals, assists, or other stats.</a:t>
            </a:r>
            <a:endParaRPr lang="en-US" sz="834" dirty="0"/>
          </a:p>
        </p:txBody>
      </p:sp>
      <p:sp>
        <p:nvSpPr>
          <p:cNvPr id="21" name="Shape 16"/>
          <p:cNvSpPr/>
          <p:nvPr/>
        </p:nvSpPr>
        <p:spPr>
          <a:xfrm>
            <a:off x="571500" y="3248258"/>
            <a:ext cx="2571750" cy="1895242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1513" y="3348270"/>
            <a:ext cx="357188" cy="35718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66" y="3441139"/>
            <a:ext cx="192881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348270"/>
            <a:ext cx="19002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Head-to-Head</a:t>
            </a:r>
            <a:endParaRPr lang="en-US" sz="987" dirty="0"/>
          </a:p>
        </p:txBody>
      </p:sp>
      <p:sp>
        <p:nvSpPr>
          <p:cNvPr id="25" name="Text 19"/>
          <p:cNvSpPr/>
          <p:nvPr/>
        </p:nvSpPr>
        <p:spPr>
          <a:xfrm>
            <a:off x="1143000" y="3564368"/>
            <a:ext cx="1900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/analytics/head-to-head</a:t>
            </a:r>
            <a:endParaRPr lang="en-US" sz="727" dirty="0"/>
          </a:p>
        </p:txBody>
      </p:sp>
      <p:sp>
        <p:nvSpPr>
          <p:cNvPr id="26" name="Text 20"/>
          <p:cNvSpPr/>
          <p:nvPr/>
        </p:nvSpPr>
        <p:spPr>
          <a:xfrm>
            <a:off x="1143000" y="3742962"/>
            <a:ext cx="19002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comparisons and match outcomes between two teams.</a:t>
            </a:r>
            <a:endParaRPr lang="en-US" sz="834" dirty="0"/>
          </a:p>
        </p:txBody>
      </p:sp>
      <p:sp>
        <p:nvSpPr>
          <p:cNvPr id="27" name="Shape 21"/>
          <p:cNvSpPr/>
          <p:nvPr/>
        </p:nvSpPr>
        <p:spPr>
          <a:xfrm>
            <a:off x="3286125" y="3248258"/>
            <a:ext cx="2571750" cy="1895242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386138" y="3355414"/>
            <a:ext cx="357188" cy="35718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9722" y="3448283"/>
            <a:ext cx="150019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57625" y="3355414"/>
            <a:ext cx="19002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 Summary</a:t>
            </a:r>
            <a:endParaRPr lang="en-US" sz="987" dirty="0"/>
          </a:p>
        </p:txBody>
      </p:sp>
      <p:sp>
        <p:nvSpPr>
          <p:cNvPr id="31" name="Text 24"/>
          <p:cNvSpPr/>
          <p:nvPr/>
        </p:nvSpPr>
        <p:spPr>
          <a:xfrm>
            <a:off x="3857625" y="3571512"/>
            <a:ext cx="19002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GET /analytics/season-summary</a:t>
            </a:r>
            <a:endParaRPr lang="en-US" sz="727" dirty="0"/>
          </a:p>
        </p:txBody>
      </p:sp>
      <p:sp>
        <p:nvSpPr>
          <p:cNvPr id="32" name="Text 25"/>
          <p:cNvSpPr/>
          <p:nvPr/>
        </p:nvSpPr>
        <p:spPr>
          <a:xfrm>
            <a:off x="3857625" y="3750106"/>
            <a:ext cx="19002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the season: total and average goals per match.</a:t>
            </a:r>
            <a:endParaRPr lang="en-US" sz="834" dirty="0"/>
          </a:p>
        </p:txBody>
      </p:sp>
      <p:sp>
        <p:nvSpPr>
          <p:cNvPr id="33" name="Shape 26"/>
          <p:cNvSpPr/>
          <p:nvPr/>
        </p:nvSpPr>
        <p:spPr>
          <a:xfrm>
            <a:off x="6000750" y="3753678"/>
            <a:ext cx="2571750" cy="89151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4" name="Shape 27"/>
          <p:cNvSpPr/>
          <p:nvPr/>
        </p:nvSpPr>
        <p:spPr>
          <a:xfrm>
            <a:off x="6000750" y="3753678"/>
            <a:ext cx="28575" cy="891518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4127999"/>
            <a:ext cx="107156" cy="1428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307931" y="3839403"/>
            <a:ext cx="2150269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endpoints show </a:t>
            </a: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</a:t>
            </a:r>
            <a:r>
              <a:rPr lang="en-US" sz="885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aggregation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transforming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into high-level football </a:t>
            </a:r>
            <a:r>
              <a:rPr lang="en-US" sz="9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37542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Security: JWT Authentication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57250"/>
            <a:ext cx="3786188" cy="29289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MECHANISM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407319"/>
            <a:ext cx="3786188" cy="124758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536799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8694" y="1535906"/>
            <a:ext cx="17430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Web Tokens (JWT)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00088" y="1780580"/>
            <a:ext cx="35290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using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python-jose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Provides a highly scalable,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authentication mechanism. The server does not need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maintain session state in memory or a database, reducing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overhead.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571500" y="2754920"/>
            <a:ext cx="3786188" cy="106472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7244" y="2883508"/>
            <a:ext cx="18055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Password Hashing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700088" y="3128181"/>
            <a:ext cx="35290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 are never stored in plaintext. They are securely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hashed using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being persisted to the database,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protection against data breaches.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4786313" y="857250"/>
            <a:ext cx="3786188" cy="29289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PROTECTION STRATEGY</a:t>
            </a:r>
            <a:endParaRPr lang="en-US" sz="1193" dirty="0"/>
          </a:p>
        </p:txBody>
      </p:sp>
      <p:sp>
        <p:nvSpPr>
          <p:cNvPr id="13" name="Shape 9"/>
          <p:cNvSpPr/>
          <p:nvPr/>
        </p:nvSpPr>
        <p:spPr>
          <a:xfrm>
            <a:off x="4786313" y="1407319"/>
            <a:ext cx="3786188" cy="1064726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536799"/>
            <a:ext cx="192881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4938" y="1535906"/>
            <a:ext cx="11555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Endpoints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4914900" y="1780580"/>
            <a:ext cx="35290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requests (retrieving teams, players, matches, and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analytics) are freely accessible without authentication, allowing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data consumption.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4786313" y="2572057"/>
            <a:ext cx="3786188" cy="2137377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701537"/>
            <a:ext cx="150019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72075" y="2700644"/>
            <a:ext cx="139838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Endpoints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4914900" y="2945318"/>
            <a:ext cx="35290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write operations (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POST, PUT, DELETE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require a valid JWT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passed in the Authorization header.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4914900" y="3453919"/>
            <a:ext cx="1428750" cy="323255"/>
          </a:xfrm>
          <a:prstGeom prst="rect">
            <a:avLst/>
          </a:prstGeom>
          <a:solidFill>
            <a:srgbClr val="EFF6FF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914900" y="3453919"/>
            <a:ext cx="1428750" cy="323255"/>
          </a:xfrm>
          <a:prstGeom prst="rect">
            <a:avLst/>
          </a:prstGeom>
          <a:noFill/>
          <a:ln/>
        </p:spPr>
        <p:txBody>
          <a:bodyPr wrap="square" lIns="153035" tIns="102108" rIns="153035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Request</a:t>
            </a:r>
            <a:endParaRPr lang="en-US" sz="784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3536966"/>
            <a:ext cx="125016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97266" y="3539644"/>
            <a:ext cx="17466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Bearer Token</a:t>
            </a:r>
            <a:endParaRPr lang="en-US" sz="834" dirty="0"/>
          </a:p>
        </p:txBody>
      </p:sp>
      <p:sp>
        <p:nvSpPr>
          <p:cNvPr id="25" name="Shape 18"/>
          <p:cNvSpPr/>
          <p:nvPr/>
        </p:nvSpPr>
        <p:spPr>
          <a:xfrm>
            <a:off x="4914900" y="3834324"/>
            <a:ext cx="1428750" cy="323255"/>
          </a:xfrm>
          <a:prstGeom prst="rect">
            <a:avLst/>
          </a:prstGeom>
          <a:solidFill>
            <a:srgbClr val="EFF6FF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914900" y="3834324"/>
            <a:ext cx="1428750" cy="323255"/>
          </a:xfrm>
          <a:prstGeom prst="rect">
            <a:avLst/>
          </a:prstGeom>
          <a:noFill/>
          <a:ln/>
        </p:spPr>
        <p:txBody>
          <a:bodyPr wrap="square" lIns="153035" tIns="102108" rIns="153035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Middleware</a:t>
            </a:r>
            <a:endParaRPr lang="en-US" sz="784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3917370"/>
            <a:ext cx="125016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97266" y="3920049"/>
            <a:ext cx="17466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Signature &amp; Expiry</a:t>
            </a:r>
            <a:endParaRPr lang="en-US" sz="834" dirty="0"/>
          </a:p>
        </p:txBody>
      </p:sp>
      <p:sp>
        <p:nvSpPr>
          <p:cNvPr id="29" name="Shape 21"/>
          <p:cNvSpPr/>
          <p:nvPr/>
        </p:nvSpPr>
        <p:spPr>
          <a:xfrm>
            <a:off x="4914900" y="4214729"/>
            <a:ext cx="1428750" cy="323255"/>
          </a:xfrm>
          <a:prstGeom prst="rect">
            <a:avLst/>
          </a:prstGeom>
          <a:solidFill>
            <a:srgbClr val="EFF6FF"/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914900" y="4214729"/>
            <a:ext cx="1428750" cy="323255"/>
          </a:xfrm>
          <a:prstGeom prst="rect">
            <a:avLst/>
          </a:prstGeom>
          <a:noFill/>
          <a:ln/>
        </p:spPr>
        <p:txBody>
          <a:bodyPr wrap="square" lIns="153035" tIns="102108" rIns="153035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Handler</a:t>
            </a:r>
            <a:endParaRPr lang="en-US" sz="784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950" y="4297775"/>
            <a:ext cx="142875" cy="1428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15125" y="4300454"/>
            <a:ext cx="17287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DB Operation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75404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Methodology &amp; Coverage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43000"/>
            <a:ext cx="37790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RIGOROUS VALIDATION STRATEGY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770757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726263" y="1744861"/>
            <a:ext cx="17823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Test Isolation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1991320"/>
            <a:ext cx="3779044" cy="54859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a dedicated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in-memory SQLite database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(sqlite:///:memory:). Tables are freshly created and dropped for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single test to guarantee deterministic results.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780119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26263" y="2754223"/>
            <a:ext cx="17448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 Fixture Injection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71500" y="3000682"/>
            <a:ext cx="3779044" cy="54859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reliance on fixtures to streamline setup. Fixtures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inject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sessions, TestClients, seed data,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valid JWT headers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789480"/>
            <a:ext cx="690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26263" y="3763584"/>
            <a:ext cx="217348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Edge Case Coverage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71500" y="4010044"/>
            <a:ext cx="3779044" cy="54859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explicitly validate HTTP status codes (200, 201, 400, 401,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403, 404, 422) and handle edge cases like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 foreign keys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duplicate registrations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779169" y="1143000"/>
            <a:ext cx="3793331" cy="400050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9269" y="1699320"/>
            <a:ext cx="22002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45-TEST SUITE BREAKDOWN</a:t>
            </a:r>
            <a:endParaRPr lang="en-US" sz="987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656" y="2015430"/>
            <a:ext cx="2857500" cy="2857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08824" y="3194149"/>
            <a:ext cx="74116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2436" dirty="0"/>
          </a:p>
        </p:txBody>
      </p:sp>
      <p:sp>
        <p:nvSpPr>
          <p:cNvPr id="18" name="Text 14"/>
          <p:cNvSpPr/>
          <p:nvPr/>
        </p:nvSpPr>
        <p:spPr>
          <a:xfrm>
            <a:off x="6308824" y="3572768"/>
            <a:ext cx="7411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TESTS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3090"/>
            <a:ext cx="394692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&amp; Future Improvements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928688"/>
            <a:ext cx="3786188" cy="29289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CHALLENGES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378744"/>
            <a:ext cx="3786188" cy="1216168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479649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1538" y="1464469"/>
            <a:ext cx="184487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 Ambiguity Resolution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657225" y="1694855"/>
            <a:ext cx="3614738" cy="8000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Match model required two foreign keys pointing to the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model (home and away). This caused an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AmbiguousForeignKeysError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SQLAlchemy, resolved by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explicitly defining the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foreign_keys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argument in the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definitions.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571500" y="2666349"/>
            <a:ext cx="3786188" cy="105615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767254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1538" y="2752074"/>
            <a:ext cx="15323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Conflicts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657225" y="2982460"/>
            <a:ext cx="3614738" cy="6400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Encountered a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ValueError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during testing related to password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length limits in newer versions of the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library.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Diagnosed and resolved by pinning the dependency to a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stable, compatible version (4.0.1).</a:t>
            </a:r>
            <a:endParaRPr lang="en-US" sz="834" dirty="0"/>
          </a:p>
        </p:txBody>
      </p:sp>
      <p:sp>
        <p:nvSpPr>
          <p:cNvPr id="13" name="Text 8"/>
          <p:cNvSpPr/>
          <p:nvPr/>
        </p:nvSpPr>
        <p:spPr>
          <a:xfrm>
            <a:off x="4786313" y="928688"/>
            <a:ext cx="3786188" cy="292894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ROADMAP</a:t>
            </a:r>
            <a:endParaRPr lang="en-US" sz="1193" dirty="0"/>
          </a:p>
        </p:txBody>
      </p:sp>
      <p:sp>
        <p:nvSpPr>
          <p:cNvPr id="14" name="Shape 9"/>
          <p:cNvSpPr/>
          <p:nvPr/>
        </p:nvSpPr>
        <p:spPr>
          <a:xfrm>
            <a:off x="4786313" y="1378744"/>
            <a:ext cx="3786188" cy="896150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38" y="1479649"/>
            <a:ext cx="125016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68491" y="1464469"/>
            <a:ext cx="151090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Migration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4872038" y="1694855"/>
            <a:ext cx="3614738" cy="4800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Replacing SQLite with PostgreSQL to resolve concurrent write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and unlock advanced analytical SQL functions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(e.g., Window Functions) for a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production-ready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environment.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4786313" y="2346331"/>
            <a:ext cx="3786188" cy="105615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038" y="2447237"/>
            <a:ext cx="107156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50631" y="2432056"/>
            <a:ext cx="14091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 Caching Layer</a:t>
            </a:r>
            <a:endParaRPr lang="en-US" sz="987" dirty="0"/>
          </a:p>
        </p:txBody>
      </p:sp>
      <p:sp>
        <p:nvSpPr>
          <p:cNvPr id="21" name="Text 14"/>
          <p:cNvSpPr/>
          <p:nvPr/>
        </p:nvSpPr>
        <p:spPr>
          <a:xfrm>
            <a:off x="4872038" y="2662442"/>
            <a:ext cx="3614738" cy="6400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in-memory caching for computationally heavy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endpoints (like the League Table) to drastically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database load and improve response times to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millisecond levels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34" dirty="0"/>
          </a:p>
        </p:txBody>
      </p:sp>
      <p:sp>
        <p:nvSpPr>
          <p:cNvPr id="22" name="Shape 15"/>
          <p:cNvSpPr/>
          <p:nvPr/>
        </p:nvSpPr>
        <p:spPr>
          <a:xfrm>
            <a:off x="4786313" y="3473927"/>
            <a:ext cx="3786188" cy="1056159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3574833"/>
            <a:ext cx="142875" cy="1428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86350" y="3559652"/>
            <a:ext cx="17895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Ingestion</a:t>
            </a:r>
            <a:endParaRPr lang="en-US" sz="987" dirty="0"/>
          </a:p>
        </p:txBody>
      </p:sp>
      <p:sp>
        <p:nvSpPr>
          <p:cNvPr id="25" name="Text 17"/>
          <p:cNvSpPr/>
          <p:nvPr/>
        </p:nvSpPr>
        <p:spPr>
          <a:xfrm>
            <a:off x="4872038" y="3790038"/>
            <a:ext cx="3614738" cy="64003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a background task scheduler (e.g., Celery) to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periodically fetch and ingest live data from authoritative third-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party APIs, ensuring </a:t>
            </a:r>
            <a:r>
              <a:rPr lang="en-US" sz="784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freshness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manual </a:t>
            </a:r>
            <a:r>
              <a:rPr lang="en-US" sz="83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2026-04-18T15:34:42Z</dcterms:created>
  <dcterms:modified xsi:type="dcterms:W3CDTF">2026-04-18T15:34:42Z</dcterms:modified>
</cp:coreProperties>
</file>