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3" Type="http://schemas.openxmlformats.org/officeDocument/2006/relationships/notesSlide" Target="../notesSlides/notesSlide4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7.png"/><Relationship Id="rId10" Type="http://schemas.openxmlformats.org/officeDocument/2006/relationships/image" Target="../media/image16.png"/><Relationship Id="rId1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7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31.png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0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43.png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3" Type="http://schemas.openxmlformats.org/officeDocument/2006/relationships/image" Target="../media/image45.png"/><Relationship Id="rId2" Type="http://schemas.openxmlformats.org/officeDocument/2006/relationships/image" Target="../media/image19.png"/><Relationship Id="rId1" Type="http://schemas.openxmlformats.org/officeDocument/2006/relationships/image" Target="../media/image44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56520" y="1670745"/>
            <a:ext cx="4830961" cy="5536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kern="0" spc="-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Football Analytics API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2452985" y="2367260"/>
            <a:ext cx="4238030" cy="5536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XJCO3011 Web Services and Web Data</a:t>
            </a:r>
            <a:r>
              <a:rPr lang="en-US" sz="17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17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Coursework 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065052" y="3349526"/>
            <a:ext cx="1014095" cy="1841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Chen </a:t>
            </a: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Haotian 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220170" y="3628132"/>
            <a:ext cx="703659" cy="17323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414713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Project Overview &amp; Objectives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1143000"/>
            <a:ext cx="3779044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CORE MISSION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466255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755452" y="1423392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 a robust,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data-driven RESTful web service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Premier League football statistics.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71500" y="2020565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55452" y="1977703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Bridge the gap between raw sports data and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programmable, analytical access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71500" y="2574875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755452" y="2532013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Demonstrate advanced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API design principles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relational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modeling, and secure authentication.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71500" y="3372073"/>
            <a:ext cx="3779044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KEY CAPABILITIES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71500" y="3695328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55452" y="3652465"/>
            <a:ext cx="3493294" cy="20571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CRUD management for Teams, Players, and Matches.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71500" y="4043921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55452" y="4001058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 data aggregation for dynamic league tables and rankings.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79169" y="1143000"/>
            <a:ext cx="3793331" cy="4000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9876" y="1858268"/>
            <a:ext cx="1059061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2563EB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49876" y="2386905"/>
            <a:ext cx="1059061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kern="0" spc="2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ENDPOINTS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991820" y="2810173"/>
            <a:ext cx="1375172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2563EB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0" name="Text 17"/>
          <p:cNvSpPr/>
          <p:nvPr/>
        </p:nvSpPr>
        <p:spPr>
          <a:xfrm>
            <a:off x="5991820" y="3338810"/>
            <a:ext cx="1375172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kern="0" spc="2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DATA MODELS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017716" y="3762077"/>
            <a:ext cx="1323380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2563EB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45</a:t>
            </a:r>
            <a:endParaRPr lang="en-US" sz="3300" dirty="0"/>
          </a:p>
        </p:txBody>
      </p:sp>
      <p:sp>
        <p:nvSpPr>
          <p:cNvPr id="22" name="Text 19"/>
          <p:cNvSpPr/>
          <p:nvPr/>
        </p:nvSpPr>
        <p:spPr>
          <a:xfrm>
            <a:off x="6017716" y="4290715"/>
            <a:ext cx="1323380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kern="0" spc="2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TESTS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623792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System Architecture &amp; Technology Stack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05508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744" y="1728788"/>
            <a:ext cx="225028" cy="2571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6015" y="2357438"/>
            <a:ext cx="1030486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Python 3.11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15318" y="2636044"/>
            <a:ext cx="751880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CORE LOGIC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785813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Chosen for its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unparalleled ecosystem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data processing and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readability. Native async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enables non-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blocking I/O.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625328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259336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6498" y="1728788"/>
            <a:ext cx="257175" cy="2571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192363" y="2357438"/>
            <a:ext cx="705445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FastAPI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3078063" y="2636044"/>
            <a:ext cx="934045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PRESENTATION</a:t>
            </a:r>
            <a:endParaRPr lang="en-US" sz="700" dirty="0"/>
          </a:p>
        </p:txBody>
      </p:sp>
      <p:sp>
        <p:nvSpPr>
          <p:cNvPr id="15" name="Text 10"/>
          <p:cNvSpPr/>
          <p:nvPr/>
        </p:nvSpPr>
        <p:spPr>
          <a:xfrm>
            <a:off x="2839641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high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performance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(Starlette)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strict type safety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(Pydantic). Auto-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generates interactive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Swagger UI docs.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4679156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13164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8180" y="1728788"/>
            <a:ext cx="321469" cy="25717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014020" y="2357438"/>
            <a:ext cx="1169789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SQLAlchemy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173861" y="2636044"/>
            <a:ext cx="850106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 ACCESS</a:t>
            </a:r>
            <a:endParaRPr lang="en-US" sz="700" dirty="0"/>
          </a:p>
        </p:txBody>
      </p:sp>
      <p:sp>
        <p:nvSpPr>
          <p:cNvPr id="21" name="Text 15"/>
          <p:cNvSpPr/>
          <p:nvPr/>
        </p:nvSpPr>
        <p:spPr>
          <a:xfrm>
            <a:off x="4893469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Abstracts complex SQL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Pythonic objects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Enforces relational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integrity and mitigates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 injection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vulnerabilities.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6732984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366992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228" y="1728788"/>
            <a:ext cx="225028" cy="25717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51812" y="2357438"/>
            <a:ext cx="601861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SQLite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7365206" y="2636044"/>
            <a:ext cx="575072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STORAGE</a:t>
            </a:r>
            <a:endParaRPr lang="en-US" sz="700" dirty="0"/>
          </a:p>
        </p:txBody>
      </p:sp>
      <p:sp>
        <p:nvSpPr>
          <p:cNvPr id="27" name="Text 20"/>
          <p:cNvSpPr/>
          <p:nvPr/>
        </p:nvSpPr>
        <p:spPr>
          <a:xfrm>
            <a:off x="6947297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zero-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configuration portability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supports standard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 operations required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demonstrating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relational modeling.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050506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Relational Database Schema Design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285875"/>
            <a:ext cx="2476509" cy="321468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25" y="1571625"/>
            <a:ext cx="573286" cy="24288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Team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57250" y="2178844"/>
            <a:ext cx="1895466" cy="82287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central entity storing club information including name, city, stadium, manager, and budget.</a:t>
            </a:r>
            <a:endParaRPr lang="en-US" sz="9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3382566"/>
            <a:ext cx="125016" cy="10001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89422" y="3353991"/>
            <a:ext cx="1663294" cy="27503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1-to-Many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relationship with 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Players</a:t>
            </a:r>
            <a:endParaRPr lang="en-US" sz="8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764756"/>
            <a:ext cx="125016" cy="10001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89422" y="3736181"/>
            <a:ext cx="1663294" cy="27503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1-to-Many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relationship with 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 (Home)</a:t>
            </a:r>
            <a:endParaRPr lang="en-US" sz="8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46947"/>
            <a:ext cx="125016" cy="1000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89422" y="4118372"/>
            <a:ext cx="1663294" cy="27503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1-to-Many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relationship with 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 (Away)</a:t>
            </a:r>
            <a:endParaRPr lang="en-US" sz="800" dirty="0"/>
          </a:p>
        </p:txBody>
      </p:sp>
      <p:sp>
        <p:nvSpPr>
          <p:cNvPr id="13" name="Shape 7"/>
          <p:cNvSpPr/>
          <p:nvPr/>
        </p:nvSpPr>
        <p:spPr>
          <a:xfrm>
            <a:off x="3324216" y="1285875"/>
            <a:ext cx="2481253" cy="321468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738" y="1578769"/>
            <a:ext cx="200025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957638" y="1571625"/>
            <a:ext cx="667941" cy="24288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Player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3614738" y="2178844"/>
            <a:ext cx="1900238" cy="82287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individual statistics such as goals, assists, appearances, and disciplinary cards.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4738" y="3795117"/>
            <a:ext cx="100013" cy="100013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3821906" y="3766542"/>
            <a:ext cx="1485900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to exactly </a:t>
            </a: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one Team</a:t>
            </a:r>
            <a:endParaRPr lang="en-US" sz="8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738" y="4039791"/>
            <a:ext cx="87511" cy="1000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3809405" y="4011216"/>
            <a:ext cx="1566267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</a:t>
            </a: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team_id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Foreign Key</a:t>
            </a:r>
            <a:endParaRPr lang="en-US" sz="85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4738" y="4284464"/>
            <a:ext cx="112514" cy="100013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3834408" y="4255889"/>
            <a:ext cx="1550194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Establishes a clear hierarchy</a:t>
            </a:r>
            <a:endParaRPr lang="en-US" sz="850" dirty="0"/>
          </a:p>
        </p:txBody>
      </p:sp>
      <p:sp>
        <p:nvSpPr>
          <p:cNvPr id="23" name="Shape 13"/>
          <p:cNvSpPr/>
          <p:nvPr/>
        </p:nvSpPr>
        <p:spPr>
          <a:xfrm>
            <a:off x="6086475" y="1285875"/>
            <a:ext cx="2486025" cy="321468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1769" y="1578769"/>
            <a:ext cx="228600" cy="22860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6753244" y="1571625"/>
            <a:ext cx="664369" cy="24288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Match</a:t>
            </a:r>
            <a:endParaRPr lang="en-US" sz="1400" dirty="0"/>
          </a:p>
        </p:txBody>
      </p:sp>
      <p:sp>
        <p:nvSpPr>
          <p:cNvPr id="26" name="Text 15"/>
          <p:cNvSpPr/>
          <p:nvPr/>
        </p:nvSpPr>
        <p:spPr>
          <a:xfrm>
            <a:off x="6381769" y="2178844"/>
            <a:ext cx="1905009" cy="82287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Captures the outcome and detailed statistics of a game, including possession and shots.</a:t>
            </a:r>
            <a:endParaRPr lang="en-US" sz="9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69" y="3795117"/>
            <a:ext cx="100013" cy="100013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6588937" y="3766542"/>
            <a:ext cx="1462683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</a:t>
            </a: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two Foreign Keys</a:t>
            </a:r>
            <a:endParaRPr lang="en-US" sz="850" dirty="0"/>
          </a:p>
        </p:txBody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69" y="4039791"/>
            <a:ext cx="87511" cy="100013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6576436" y="4011216"/>
            <a:ext cx="1626989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home_team_id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points to Team</a:t>
            </a:r>
            <a:endParaRPr lang="en-US" sz="800" dirty="0"/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1769" y="4284464"/>
            <a:ext cx="87511" cy="100013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6576436" y="4255889"/>
            <a:ext cx="1601986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away_team_id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points to Team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604147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API Functionality: CRUD Operations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1007269"/>
            <a:ext cx="160020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RESOURCE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171700" y="1007269"/>
            <a:ext cx="200025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READ (PUBLIC)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171950" y="1007269"/>
            <a:ext cx="200025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WRITE (SECURED)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172200" y="1007269"/>
            <a:ext cx="240030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QUERY CAPABILITIES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1500" y="1476970"/>
            <a:ext cx="1600200" cy="847204"/>
          </a:xfrm>
          <a:prstGeom prst="rect">
            <a:avLst/>
          </a:prstGeom>
          <a:noFill/>
        </p:spPr>
        <p:txBody>
          <a:bodyPr wrap="square" lIns="0" tIns="255143" rIns="0" bIns="25514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Teams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71700" y="1709142"/>
            <a:ext cx="840116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10" name="Text 7"/>
          <p:cNvSpPr/>
          <p:nvPr/>
        </p:nvSpPr>
        <p:spPr>
          <a:xfrm>
            <a:off x="2171700" y="1709142"/>
            <a:ext cx="840116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/teams/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171700" y="1914860"/>
            <a:ext cx="1114425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2171700" y="1914860"/>
            <a:ext cx="1114425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/teams/{id}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71950" y="1709142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14" name="Text 11"/>
          <p:cNvSpPr/>
          <p:nvPr/>
        </p:nvSpPr>
        <p:spPr>
          <a:xfrm>
            <a:off x="4171950" y="1709142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POST, PUT, DELETE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72200" y="1719858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695480" y="1719858"/>
            <a:ext cx="232172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city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1925575"/>
            <a:ext cx="646509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by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818709" y="1925575"/>
            <a:ext cx="34468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name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71500" y="2324174"/>
            <a:ext cx="1600200" cy="847204"/>
          </a:xfrm>
          <a:prstGeom prst="rect">
            <a:avLst/>
          </a:prstGeom>
          <a:noFill/>
        </p:spPr>
        <p:txBody>
          <a:bodyPr wrap="square" lIns="0" tIns="255143" rIns="0" bIns="25514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Players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171700" y="2556346"/>
            <a:ext cx="977271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21" name="Text 18"/>
          <p:cNvSpPr/>
          <p:nvPr/>
        </p:nvSpPr>
        <p:spPr>
          <a:xfrm>
            <a:off x="2171700" y="2556346"/>
            <a:ext cx="977271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/players/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171700" y="2762064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23" name="Text 20"/>
          <p:cNvSpPr/>
          <p:nvPr/>
        </p:nvSpPr>
        <p:spPr>
          <a:xfrm>
            <a:off x="2171700" y="2762064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/players/{id}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171950" y="2556346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25" name="Text 22"/>
          <p:cNvSpPr/>
          <p:nvPr/>
        </p:nvSpPr>
        <p:spPr>
          <a:xfrm>
            <a:off x="4171950" y="2556346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POST, PUT, DELETE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2567062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695480" y="2567062"/>
            <a:ext cx="1605558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team, position, nationality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172200" y="2772780"/>
            <a:ext cx="471488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 by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643688" y="2772780"/>
            <a:ext cx="126801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goals, assists, cards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71500" y="3171379"/>
            <a:ext cx="1600200" cy="850776"/>
          </a:xfrm>
          <a:prstGeom prst="rect">
            <a:avLst/>
          </a:prstGeom>
          <a:noFill/>
        </p:spPr>
        <p:txBody>
          <a:bodyPr wrap="square" lIns="0" tIns="255143" rIns="0" bIns="25514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Matches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171700" y="3403550"/>
            <a:ext cx="977271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32" name="Text 29"/>
          <p:cNvSpPr/>
          <p:nvPr/>
        </p:nvSpPr>
        <p:spPr>
          <a:xfrm>
            <a:off x="2171700" y="3403550"/>
            <a:ext cx="977271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/matches/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2171700" y="3609268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34" name="Text 31"/>
          <p:cNvSpPr/>
          <p:nvPr/>
        </p:nvSpPr>
        <p:spPr>
          <a:xfrm>
            <a:off x="2171700" y="3609268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/matches/{id}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71950" y="3403550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36" name="Text 33"/>
          <p:cNvSpPr/>
          <p:nvPr/>
        </p:nvSpPr>
        <p:spPr>
          <a:xfrm>
            <a:off x="4171950" y="3403550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POST, PUT, DELETE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172200" y="3414266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95480" y="3414266"/>
            <a:ext cx="834033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season, team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172200" y="3619984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695480" y="3619984"/>
            <a:ext cx="664369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date range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71500" y="4315048"/>
            <a:ext cx="8001000" cy="74830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4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596333"/>
            <a:ext cx="171450" cy="171450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1135856" y="4529361"/>
            <a:ext cx="1275159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Universal Pagination</a:t>
            </a:r>
            <a:endParaRPr lang="en-US" sz="900" dirty="0"/>
          </a:p>
        </p:txBody>
      </p:sp>
      <p:sp>
        <p:nvSpPr>
          <p:cNvPr id="44" name="Text 40"/>
          <p:cNvSpPr/>
          <p:nvPr/>
        </p:nvSpPr>
        <p:spPr>
          <a:xfrm>
            <a:off x="1135856" y="4713312"/>
            <a:ext cx="1898452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&amp; page_size parameters on all lists</a:t>
            </a:r>
            <a:endParaRPr lang="en-US" sz="750" dirty="0"/>
          </a:p>
        </p:txBody>
      </p:sp>
      <p:sp>
        <p:nvSpPr>
          <p:cNvPr id="45" name="Text 41"/>
          <p:cNvSpPr/>
          <p:nvPr/>
        </p:nvSpPr>
        <p:spPr>
          <a:xfrm>
            <a:off x="3633490" y="4529361"/>
            <a:ext cx="98226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Strict Validation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3633490" y="4713312"/>
            <a:ext cx="1902023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Pydantic schemas enforce data integrity</a:t>
            </a:r>
            <a:endParaRPr lang="en-US" sz="750" dirty="0"/>
          </a:p>
        </p:txBody>
      </p:sp>
      <p:pic>
        <p:nvPicPr>
          <p:cNvPr id="4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539" y="4596333"/>
            <a:ext cx="128588" cy="171450"/>
          </a:xfrm>
          <a:prstGeom prst="rect">
            <a:avLst/>
          </a:prstGeom>
        </p:spPr>
      </p:pic>
      <p:sp>
        <p:nvSpPr>
          <p:cNvPr id="48" name="Text 43"/>
          <p:cNvSpPr/>
          <p:nvPr/>
        </p:nvSpPr>
        <p:spPr>
          <a:xfrm>
            <a:off x="6263283" y="4529361"/>
            <a:ext cx="1544836" cy="1553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Standardized Responses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6263283" y="4713312"/>
            <a:ext cx="2023467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JSON structures &amp; HTTP codes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484364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Advanced Analytics Endpoints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928688"/>
            <a:ext cx="2571750" cy="218383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71513" y="102870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381" y="1121569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3000" y="1028700"/>
            <a:ext cx="1900238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League Table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43000" y="1244798"/>
            <a:ext cx="1900238" cy="1357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/analytics/league-table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143000" y="1423392"/>
            <a:ext cx="1900238" cy="32001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Calculates standings from match results (points, GD, W/D/L).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3286125" y="928688"/>
            <a:ext cx="2571750" cy="218383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386138" y="102870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006" y="1121569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857625" y="1028700"/>
            <a:ext cx="1900238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Team Performance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3857625" y="1244798"/>
            <a:ext cx="1900238" cy="2714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/analytics/team-performance/{id}</a:t>
            </a:r>
            <a:endParaRPr lang="en-US" sz="750" dirty="0"/>
          </a:p>
        </p:txBody>
      </p:sp>
      <p:sp>
        <p:nvSpPr>
          <p:cNvPr id="15" name="Text 10"/>
          <p:cNvSpPr/>
          <p:nvPr/>
        </p:nvSpPr>
        <p:spPr>
          <a:xfrm>
            <a:off x="3857625" y="1559123"/>
            <a:ext cx="1900238" cy="48002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metrics including home/away form and scoring averages.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000750" y="928688"/>
            <a:ext cx="2571750" cy="2176695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100763" y="102870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sp>
        <p:nvSpPr>
          <p:cNvPr id="18" name="Text 13"/>
          <p:cNvSpPr/>
          <p:nvPr/>
        </p:nvSpPr>
        <p:spPr>
          <a:xfrm>
            <a:off x="6572250" y="1028700"/>
            <a:ext cx="1900238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Player Rankings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6572250" y="1244798"/>
            <a:ext cx="1900238" cy="1357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/analytics/player-rankings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6572250" y="1423392"/>
            <a:ext cx="1900238" cy="32001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players sorted by goals, assists, or other stats.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71500" y="3248258"/>
            <a:ext cx="2571750" cy="1895242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1513" y="334827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66" y="3441139"/>
            <a:ext cx="192881" cy="17145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43000" y="3348270"/>
            <a:ext cx="1900238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Head-to-Head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43000" y="3564368"/>
            <a:ext cx="1900238" cy="1357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/analytics/head-to-head</a:t>
            </a:r>
            <a:endParaRPr lang="en-US" sz="750" dirty="0"/>
          </a:p>
        </p:txBody>
      </p:sp>
      <p:sp>
        <p:nvSpPr>
          <p:cNvPr id="26" name="Text 20"/>
          <p:cNvSpPr/>
          <p:nvPr/>
        </p:nvSpPr>
        <p:spPr>
          <a:xfrm>
            <a:off x="1143000" y="3742962"/>
            <a:ext cx="1900238" cy="32001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comparisons and match outcomes between two teams.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3286125" y="3248258"/>
            <a:ext cx="2571750" cy="1895242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386138" y="3355414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9722" y="3448283"/>
            <a:ext cx="150019" cy="17145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857625" y="3355414"/>
            <a:ext cx="1900238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Season Summary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3857625" y="3571512"/>
            <a:ext cx="1900238" cy="1357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/analytics/season-summary</a:t>
            </a:r>
            <a:endParaRPr lang="en-US" sz="750" dirty="0"/>
          </a:p>
        </p:txBody>
      </p:sp>
      <p:sp>
        <p:nvSpPr>
          <p:cNvPr id="32" name="Text 25"/>
          <p:cNvSpPr/>
          <p:nvPr/>
        </p:nvSpPr>
        <p:spPr>
          <a:xfrm>
            <a:off x="3857625" y="3750106"/>
            <a:ext cx="1900238" cy="32001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 of the season: total and average goals per match.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6000750" y="3753678"/>
            <a:ext cx="2571750" cy="891518"/>
          </a:xfrm>
          <a:prstGeom prst="rect">
            <a:avLst/>
          </a:prstGeom>
          <a:solidFill>
            <a:srgbClr val="ECFDF5"/>
          </a:solidFill>
        </p:spPr>
      </p:sp>
      <p:sp>
        <p:nvSpPr>
          <p:cNvPr id="34" name="Shape 27"/>
          <p:cNvSpPr/>
          <p:nvPr/>
        </p:nvSpPr>
        <p:spPr>
          <a:xfrm>
            <a:off x="6000750" y="3753678"/>
            <a:ext cx="28575" cy="891518"/>
          </a:xfrm>
          <a:prstGeom prst="rect">
            <a:avLst/>
          </a:prstGeom>
          <a:solidFill>
            <a:srgbClr val="059669"/>
          </a:solidFill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5050" y="4127999"/>
            <a:ext cx="107156" cy="142875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307931" y="3839403"/>
            <a:ext cx="2150269" cy="7200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endpoints show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complex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 aggregation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transforming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data into high-level football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intelligence.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375422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Security: JWT Authentication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857250"/>
            <a:ext cx="3786188" cy="292894"/>
          </a:xfrm>
          <a:prstGeom prst="rect">
            <a:avLst/>
          </a:prstGeom>
          <a:noFill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2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STATELESS MECHANISM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71500" y="1407319"/>
            <a:ext cx="3786188" cy="124758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88" y="1536799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8694" y="1535906"/>
            <a:ext cx="1743075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JSON Web Tokens (JWT)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700088" y="1780580"/>
            <a:ext cx="3529013" cy="7314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Implemented using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python-jose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Provides a highly scalable,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authentication mechanism. The server does not need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maintain session state in memory or a database, reducing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overhead.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571500" y="2754920"/>
            <a:ext cx="3786188" cy="1064726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07244" y="2883508"/>
            <a:ext cx="1805583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Secure Password Hashing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00088" y="3128181"/>
            <a:ext cx="3529013" cy="5485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Passwords are never stored in plaintext. They are securely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hashed using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bcrypt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before being persisted to the database,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ensuring protection against data breaches.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4786313" y="857250"/>
            <a:ext cx="3786188" cy="292894"/>
          </a:xfrm>
          <a:prstGeom prst="rect">
            <a:avLst/>
          </a:prstGeom>
          <a:noFill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2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ROUTE PROTECTION STRATEGY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86313" y="1407319"/>
            <a:ext cx="3786188" cy="1064726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536799"/>
            <a:ext cx="192881" cy="1714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14938" y="1535906"/>
            <a:ext cx="1155502" cy="17323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Public Endpoints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914900" y="1780580"/>
            <a:ext cx="3529013" cy="5485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GET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requests (retrieving teams, players, matches, and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analytics) are freely accessible without authentication, allowing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data consumption.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4786313" y="2572057"/>
            <a:ext cx="3786188" cy="2137377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900" y="2701537"/>
            <a:ext cx="150019" cy="1714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172075" y="2700644"/>
            <a:ext cx="1398389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Protected Endpoints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4914900" y="2945318"/>
            <a:ext cx="3529013" cy="36572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write operations (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POST, PUT, DELETE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require a valid JWT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passed in the Authorization header.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4914900" y="3453919"/>
            <a:ext cx="1428750" cy="323255"/>
          </a:xfrm>
          <a:prstGeom prst="rect">
            <a:avLst/>
          </a:prstGeom>
          <a:solidFill>
            <a:srgbClr val="EFF6FF"/>
          </a:solidFill>
          <a:ln w="9144">
            <a:solidFill>
              <a:srgbClr val="2563EB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914900" y="3453919"/>
            <a:ext cx="1428750" cy="323255"/>
          </a:xfrm>
          <a:prstGeom prst="rect">
            <a:avLst/>
          </a:prstGeom>
          <a:noFill/>
        </p:spPr>
        <p:txBody>
          <a:bodyPr wrap="square" lIns="153035" tIns="102108" rIns="153035" bIns="102108" rtlCol="0" anchor="t">
            <a:sp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Client Request</a:t>
            </a:r>
            <a:endParaRPr lang="en-US" sz="8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7950" y="3536966"/>
            <a:ext cx="125016" cy="14287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697266" y="3539644"/>
            <a:ext cx="1746647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Bearer Token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4914900" y="3834324"/>
            <a:ext cx="1428750" cy="323255"/>
          </a:xfrm>
          <a:prstGeom prst="rect">
            <a:avLst/>
          </a:prstGeom>
          <a:solidFill>
            <a:srgbClr val="EFF6FF"/>
          </a:solidFill>
          <a:ln w="9144">
            <a:solidFill>
              <a:srgbClr val="2563EB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914900" y="3834324"/>
            <a:ext cx="1428750" cy="323255"/>
          </a:xfrm>
          <a:prstGeom prst="rect">
            <a:avLst/>
          </a:prstGeom>
          <a:noFill/>
        </p:spPr>
        <p:txBody>
          <a:bodyPr wrap="square" lIns="153035" tIns="102108" rIns="153035" bIns="102108" rtlCol="0" anchor="t">
            <a:sp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FastAPI Middleware</a:t>
            </a:r>
            <a:endParaRPr lang="en-US" sz="8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7950" y="3917370"/>
            <a:ext cx="125016" cy="14287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697266" y="3920049"/>
            <a:ext cx="1746647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Signature &amp; Expiry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4914900" y="4214729"/>
            <a:ext cx="1428750" cy="323255"/>
          </a:xfrm>
          <a:prstGeom prst="rect">
            <a:avLst/>
          </a:prstGeom>
          <a:solidFill>
            <a:srgbClr val="EFF6FF"/>
          </a:solidFill>
          <a:ln w="9144">
            <a:solidFill>
              <a:srgbClr val="2563EB"/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914900" y="4214729"/>
            <a:ext cx="1428750" cy="323255"/>
          </a:xfrm>
          <a:prstGeom prst="rect">
            <a:avLst/>
          </a:prstGeom>
          <a:noFill/>
        </p:spPr>
        <p:txBody>
          <a:bodyPr wrap="square" lIns="153035" tIns="102108" rIns="153035" bIns="102108" rtlCol="0" anchor="t">
            <a:sp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Route Handler</a:t>
            </a:r>
            <a:endParaRPr lang="en-US" sz="80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7950" y="4297775"/>
            <a:ext cx="142875" cy="142875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715125" y="4300454"/>
            <a:ext cx="1728788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Executes DB Operation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754041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Testing Methodology &amp; Coverage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1143000"/>
            <a:ext cx="3779044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RIGOROUS VALIDATION STRATEGY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770757"/>
            <a:ext cx="69038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26263" y="1744861"/>
            <a:ext cx="1782366" cy="18930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Complete Test Isolation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1991320"/>
            <a:ext cx="3779044" cy="548590"/>
          </a:xfrm>
          <a:prstGeom prst="rect">
            <a:avLst/>
          </a:prstGeom>
          <a:noFill/>
        </p:spPr>
        <p:txBody>
          <a:bodyPr wrap="square" lIns="238125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Utilizes a dedicated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in-memory SQLite database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(sqlite:///:memory:). Tables are freshly created and dropped for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single test to guarantee deterministic results.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71500" y="2780119"/>
            <a:ext cx="69038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■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26263" y="2754223"/>
            <a:ext cx="1744861" cy="18930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Pytest Fixture Injection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3000682"/>
            <a:ext cx="3779044" cy="548590"/>
          </a:xfrm>
          <a:prstGeom prst="rect">
            <a:avLst/>
          </a:prstGeom>
          <a:noFill/>
        </p:spPr>
        <p:txBody>
          <a:bodyPr wrap="square" lIns="238125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Heavy reliance on fixtures to streamline setup. Fixtures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automatically inject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database sessions, TestClients, seed data,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and valid JWT headers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1500" y="3789480"/>
            <a:ext cx="69038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■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26263" y="3763584"/>
            <a:ext cx="2173486" cy="18930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Explicit Edge Case Coverage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1500" y="4010044"/>
            <a:ext cx="3779044" cy="548590"/>
          </a:xfrm>
          <a:prstGeom prst="rect">
            <a:avLst/>
          </a:prstGeom>
          <a:noFill/>
        </p:spPr>
        <p:txBody>
          <a:bodyPr wrap="square" lIns="238125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explicitly validate HTTP status codes (200, 201, 400, 401,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403, 404, 422) and handle edge cases like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invalid foreign keys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and duplicate registrations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779169" y="1143000"/>
            <a:ext cx="3793331" cy="4000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9269" y="1699320"/>
            <a:ext cx="2200275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45-TEST SUITE BREAKDOWN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656" y="2015430"/>
            <a:ext cx="2857500" cy="28575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08824" y="3194149"/>
            <a:ext cx="74116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45</a:t>
            </a:r>
            <a:endParaRPr lang="en-US" sz="2450" dirty="0"/>
          </a:p>
        </p:txBody>
      </p:sp>
      <p:sp>
        <p:nvSpPr>
          <p:cNvPr id="18" name="Text 14"/>
          <p:cNvSpPr/>
          <p:nvPr/>
        </p:nvSpPr>
        <p:spPr>
          <a:xfrm>
            <a:off x="6308824" y="3572768"/>
            <a:ext cx="741164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kern="0" spc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TESTS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907756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Version Control Practices &amp; Commit History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000125"/>
            <a:ext cx="3474458" cy="1230511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1158180"/>
            <a:ext cx="178594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78694" y="1143000"/>
            <a:ext cx="1918097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Atomic &amp; Frequent Commits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14375" y="1387673"/>
            <a:ext cx="3188708" cy="685800"/>
          </a:xfrm>
          <a:prstGeom prst="rect">
            <a:avLst/>
          </a:prstGeom>
          <a:noFill/>
        </p:spPr>
        <p:txBody>
          <a:bodyPr wrap="square" lIns="272161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changes are committed in small, logical units (e.g., "改进API验证与认证", "解决文件相对路径报错问题"). This ensures easier tracking, debugging, and reverting if necessary.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571500" y="2394942"/>
            <a:ext cx="3474458" cy="1059061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552998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42975" y="2537817"/>
            <a:ext cx="2105620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Descriptive Commit Messages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14375" y="2782491"/>
            <a:ext cx="3188708" cy="514350"/>
          </a:xfrm>
          <a:prstGeom prst="rect">
            <a:avLst/>
          </a:prstGeom>
          <a:noFill/>
        </p:spPr>
        <p:txBody>
          <a:bodyPr wrap="square" lIns="272161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commit message clearly explains </a:t>
            </a:r>
            <a:r>
              <a:rPr lang="en-US" sz="800" b="1" dirty="0">
                <a:solidFill>
                  <a:srgbClr val="4B556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what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was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changed and </a:t>
            </a:r>
            <a:r>
              <a:rPr lang="en-US" sz="800" b="1" dirty="0">
                <a:solidFill>
                  <a:srgbClr val="4B556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why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providing a transparent history of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development process for all collaborators.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571500" y="3618309"/>
            <a:ext cx="3474458" cy="123586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3776365"/>
            <a:ext cx="160734" cy="14287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60834" y="3761184"/>
            <a:ext cx="1518047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Structured Repository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835660" y="4021931"/>
            <a:ext cx="2719983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GitHub repository maintains a clean structure</a:t>
            </a:r>
            <a:endParaRPr lang="en-US" sz="850" dirty="0"/>
          </a:p>
        </p:txBody>
      </p:sp>
      <p:sp>
        <p:nvSpPr>
          <p:cNvPr id="16" name="Text 10"/>
          <p:cNvSpPr/>
          <p:nvPr/>
        </p:nvSpPr>
        <p:spPr>
          <a:xfrm>
            <a:off x="771525" y="4364831"/>
            <a:ext cx="2946797" cy="3107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separated directories for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2305645" y="4184452"/>
            <a:ext cx="20574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app</a:t>
            </a:r>
            <a:endParaRPr lang="en-US" sz="850" dirty="0"/>
          </a:p>
        </p:txBody>
      </p:sp>
      <p:sp>
        <p:nvSpPr>
          <p:cNvPr id="18" name="Text 12"/>
          <p:cNvSpPr/>
          <p:nvPr/>
        </p:nvSpPr>
        <p:spPr>
          <a:xfrm>
            <a:off x="2511391" y="4195167"/>
            <a:ext cx="64294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2575685" y="4184452"/>
            <a:ext cx="34290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tests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2918585" y="4195167"/>
            <a:ext cx="64294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2982878" y="4184452"/>
            <a:ext cx="274337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3257215" y="4195167"/>
            <a:ext cx="298252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3555467" y="4184452"/>
            <a:ext cx="274337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data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771525" y="4189452"/>
            <a:ext cx="2918975" cy="3107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alongside essential files like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2305685" y="4364673"/>
            <a:ext cx="68580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.gitignore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2814955" y="4360148"/>
            <a:ext cx="233958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3048635" y="4351853"/>
            <a:ext cx="1097291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requirements.txt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2040266" y="4541639"/>
            <a:ext cx="32147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3145" y="1092994"/>
            <a:ext cx="4169355" cy="17145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418032" y="2878931"/>
            <a:ext cx="2139553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 1: Repository Structure &amp; Recent Commits</a:t>
            </a:r>
            <a:endParaRPr lang="en-US" sz="75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145" y="3143250"/>
            <a:ext cx="4169355" cy="17145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656455" y="4929188"/>
            <a:ext cx="1662708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 2: Detailed Commit Activity Log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321844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 Documentation Overview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143000"/>
            <a:ext cx="8001000" cy="671513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5" name="Shape 2"/>
          <p:cNvSpPr/>
          <p:nvPr/>
        </p:nvSpPr>
        <p:spPr>
          <a:xfrm>
            <a:off x="571500" y="1143000"/>
            <a:ext cx="28575" cy="671513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6" name="Text 3"/>
          <p:cNvSpPr/>
          <p:nvPr/>
        </p:nvSpPr>
        <p:spPr>
          <a:xfrm>
            <a:off x="571500" y="1143000"/>
            <a:ext cx="8001000" cy="671513"/>
          </a:xfrm>
          <a:prstGeom prst="rect">
            <a:avLst/>
          </a:prstGeom>
          <a:noFill/>
        </p:spPr>
        <p:txBody>
          <a:bodyPr wrap="square" lIns="170053" tIns="127508" rIns="127508" bIns="12750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API Documentation is meticulously authored using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LaTeX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delivered as a professional PDF document. It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serves as the definitive contract for consumers integrating with the Football Analytics API.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71500" y="2100263"/>
            <a:ext cx="2524116" cy="2423517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" y="2100263"/>
            <a:ext cx="2514600" cy="46613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9" name="Shape 6"/>
          <p:cNvSpPr/>
          <p:nvPr/>
        </p:nvSpPr>
        <p:spPr>
          <a:xfrm>
            <a:off x="571500" y="2559248"/>
            <a:ext cx="2514600" cy="7144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244030"/>
            <a:ext cx="171450" cy="1714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92981" y="2243138"/>
            <a:ext cx="1793081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Comprehensive Coverage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94" y="2766417"/>
            <a:ext cx="100013" cy="10001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21544" y="2737842"/>
            <a:ext cx="1985963" cy="5143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all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 RESTful endpoints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across Teams, Players, Matches,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Analytics, and Auth.</a:t>
            </a:r>
            <a:endParaRPr lang="en-US" sz="8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94" y="3387923"/>
            <a:ext cx="100013" cy="10001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21544" y="3359348"/>
            <a:ext cx="1985963" cy="5143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Clearly defines required and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query parameters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path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variables.</a:t>
            </a:r>
            <a:endParaRPr lang="en-US" sz="8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94" y="4009430"/>
            <a:ext cx="100013" cy="10001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21544" y="3980855"/>
            <a:ext cx="1985963" cy="342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the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JWT Authentication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flow and header requirements.</a:t>
            </a:r>
            <a:endParaRPr lang="en-US" sz="850" dirty="0"/>
          </a:p>
        </p:txBody>
      </p:sp>
      <p:sp>
        <p:nvSpPr>
          <p:cNvPr id="18" name="Shape 11"/>
          <p:cNvSpPr/>
          <p:nvPr/>
        </p:nvSpPr>
        <p:spPr>
          <a:xfrm>
            <a:off x="3300413" y="2100263"/>
            <a:ext cx="2528888" cy="2402086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3305184" y="2100263"/>
            <a:ext cx="2519372" cy="46613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20" name="Shape 13"/>
          <p:cNvSpPr/>
          <p:nvPr/>
        </p:nvSpPr>
        <p:spPr>
          <a:xfrm>
            <a:off x="3305184" y="2559248"/>
            <a:ext cx="2519372" cy="7144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8059" y="2244030"/>
            <a:ext cx="214313" cy="17145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3769528" y="2243138"/>
            <a:ext cx="1176933" cy="17323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Developer Ready</a:t>
            </a:r>
            <a:endParaRPr lang="en-US" sz="10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778" y="2766417"/>
            <a:ext cx="100013" cy="10001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3655228" y="2737842"/>
            <a:ext cx="1990734" cy="342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exact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example requests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immediate testing.</a:t>
            </a:r>
            <a:endParaRPr lang="en-US" sz="85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778" y="3216473"/>
            <a:ext cx="100013" cy="100013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3655228" y="3187898"/>
            <a:ext cx="1990734" cy="5143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Illustrates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expected JSON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responses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both success and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scenarios.</a:t>
            </a:r>
            <a:endParaRPr lang="en-US" sz="8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778" y="3837980"/>
            <a:ext cx="100013" cy="100013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3655228" y="3809405"/>
            <a:ext cx="1990734" cy="342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standard HTTP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error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codes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(400, 401, 404, 500).</a:t>
            </a:r>
            <a:endParaRPr lang="en-US" sz="850" dirty="0"/>
          </a:p>
        </p:txBody>
      </p:sp>
      <p:sp>
        <p:nvSpPr>
          <p:cNvPr id="29" name="Shape 18"/>
          <p:cNvSpPr/>
          <p:nvPr/>
        </p:nvSpPr>
        <p:spPr>
          <a:xfrm>
            <a:off x="6038869" y="2100263"/>
            <a:ext cx="2533659" cy="2402086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048356" y="2100263"/>
            <a:ext cx="2524116" cy="46613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31" name="Shape 20"/>
          <p:cNvSpPr/>
          <p:nvPr/>
        </p:nvSpPr>
        <p:spPr>
          <a:xfrm>
            <a:off x="6048356" y="2559248"/>
            <a:ext cx="2524116" cy="7144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31" y="2244030"/>
            <a:ext cx="128588" cy="17145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426975" y="2243138"/>
            <a:ext cx="1476970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Academic Formatting</a:t>
            </a:r>
            <a:endParaRPr lang="en-US" sz="1000" dirty="0"/>
          </a:p>
        </p:txBody>
      </p:sp>
      <p:pic>
        <p:nvPicPr>
          <p:cNvPr id="34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6950" y="2766417"/>
            <a:ext cx="100013" cy="100013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6398400" y="2737842"/>
            <a:ext cx="1995478" cy="342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Typeset in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Times New Roman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 strict coursework guidelines.</a:t>
            </a:r>
            <a:endParaRPr lang="en-US" sz="850" dirty="0"/>
          </a:p>
        </p:txBody>
      </p:sp>
      <p:pic>
        <p:nvPicPr>
          <p:cNvPr id="36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6950" y="3216473"/>
            <a:ext cx="100013" cy="100013"/>
          </a:xfrm>
          <a:prstGeom prst="rect">
            <a:avLst/>
          </a:prstGeom>
        </p:spPr>
      </p:pic>
      <p:sp>
        <p:nvSpPr>
          <p:cNvPr id="37" name="Text 23"/>
          <p:cNvSpPr/>
          <p:nvPr/>
        </p:nvSpPr>
        <p:spPr>
          <a:xfrm>
            <a:off x="6398400" y="3187898"/>
            <a:ext cx="1995478" cy="5143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with clear hierarchical headings and monospaced code blocks.</a:t>
            </a:r>
            <a:endParaRPr lang="en-US" sz="850" dirty="0"/>
          </a:p>
        </p:txBody>
      </p:sp>
      <p:pic>
        <p:nvPicPr>
          <p:cNvPr id="38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6950" y="3837980"/>
            <a:ext cx="100013" cy="100013"/>
          </a:xfrm>
          <a:prstGeom prst="rect">
            <a:avLst/>
          </a:prstGeom>
        </p:spPr>
      </p:pic>
      <p:sp>
        <p:nvSpPr>
          <p:cNvPr id="39" name="Text 24"/>
          <p:cNvSpPr/>
          <p:nvPr/>
        </p:nvSpPr>
        <p:spPr>
          <a:xfrm>
            <a:off x="6398400" y="3809405"/>
            <a:ext cx="1995478" cy="342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Maintained directly alongside the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codebase in the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/docs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directory.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4363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127177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Technical Report Highlights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071563"/>
            <a:ext cx="3786188" cy="2407444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5" name="Shape 2"/>
          <p:cNvSpPr/>
          <p:nvPr/>
        </p:nvSpPr>
        <p:spPr>
          <a:xfrm>
            <a:off x="571500" y="1071563"/>
            <a:ext cx="3786188" cy="21431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94" y="1268016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7269" y="1250156"/>
            <a:ext cx="1809155" cy="20716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Architecture &amp; Design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1607344"/>
            <a:ext cx="100013" cy="10001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71550" y="1564481"/>
            <a:ext cx="3207544" cy="5786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justification for selecting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FastAPI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(asynchronous performance, automatic Swagger UI)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SQLite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(zero-configuration portability).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2271713"/>
            <a:ext cx="100013" cy="10001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71550" y="2228850"/>
            <a:ext cx="3207544" cy="3857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Explanation of the layered architecture separating routing, business logic, and data access.</a:t>
            </a:r>
            <a:endParaRPr lang="en-US" sz="95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2743200"/>
            <a:ext cx="100013" cy="100013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71550" y="2700338"/>
            <a:ext cx="3207544" cy="5786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 of the relational database schema, including the handling of dual foreign keys for matches.</a:t>
            </a:r>
            <a:endParaRPr lang="en-US" sz="950" dirty="0"/>
          </a:p>
        </p:txBody>
      </p:sp>
      <p:sp>
        <p:nvSpPr>
          <p:cNvPr id="14" name="Shape 7"/>
          <p:cNvSpPr/>
          <p:nvPr/>
        </p:nvSpPr>
        <p:spPr>
          <a:xfrm>
            <a:off x="571500" y="3671888"/>
            <a:ext cx="3786188" cy="1743075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15" name="Shape 8"/>
          <p:cNvSpPr/>
          <p:nvPr/>
        </p:nvSpPr>
        <p:spPr>
          <a:xfrm>
            <a:off x="571500" y="3671888"/>
            <a:ext cx="3786188" cy="21431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094" y="3868341"/>
            <a:ext cx="214313" cy="17145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0131" y="3850481"/>
            <a:ext cx="1498402" cy="20716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GenAI Declaration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4207669"/>
            <a:ext cx="100013" cy="100013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71550" y="4164806"/>
            <a:ext cx="3207544" cy="3857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Transparent disclosure of AI assistance in code scaffolding and documentation formatting.</a:t>
            </a:r>
            <a:endParaRPr lang="en-US" sz="9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4679156"/>
            <a:ext cx="100013" cy="100013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971550" y="4636294"/>
            <a:ext cx="3207544" cy="5786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complete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Conversation Logs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an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appendix, adhering strictly to the 5-page limit for the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 content.</a:t>
            </a:r>
            <a:endParaRPr lang="en-US" sz="950" dirty="0"/>
          </a:p>
        </p:txBody>
      </p:sp>
      <p:sp>
        <p:nvSpPr>
          <p:cNvPr id="22" name="Shape 12"/>
          <p:cNvSpPr/>
          <p:nvPr/>
        </p:nvSpPr>
        <p:spPr>
          <a:xfrm>
            <a:off x="4786313" y="1071563"/>
            <a:ext cx="3786188" cy="1550194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23" name="Shape 13"/>
          <p:cNvSpPr/>
          <p:nvPr/>
        </p:nvSpPr>
        <p:spPr>
          <a:xfrm>
            <a:off x="4786313" y="1071563"/>
            <a:ext cx="3786188" cy="21431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24" name="Text 14"/>
          <p:cNvSpPr/>
          <p:nvPr/>
        </p:nvSpPr>
        <p:spPr>
          <a:xfrm>
            <a:off x="5050631" y="1250156"/>
            <a:ext cx="1753791" cy="20716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Testing Methodology</a:t>
            </a:r>
            <a:endParaRPr lang="en-US" sz="120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1607344"/>
            <a:ext cx="100013" cy="100013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5186363" y="1564481"/>
            <a:ext cx="3207544" cy="3857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Comprehensive overview of the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Pytest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suite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covering 45 independent test cases.</a:t>
            </a:r>
            <a:endParaRPr lang="en-US" sz="9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2078831"/>
            <a:ext cx="100013" cy="100013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5186363" y="2035969"/>
            <a:ext cx="3207544" cy="3857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Explanation of testing strategies: happy paths, edge cases, authentication failures, and data validation.</a:t>
            </a:r>
            <a:endParaRPr lang="en-US" sz="950" dirty="0"/>
          </a:p>
        </p:txBody>
      </p:sp>
      <p:sp>
        <p:nvSpPr>
          <p:cNvPr id="29" name="Shape 17"/>
          <p:cNvSpPr/>
          <p:nvPr/>
        </p:nvSpPr>
        <p:spPr>
          <a:xfrm>
            <a:off x="4786313" y="2814638"/>
            <a:ext cx="3786188" cy="1743075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30" name="Shape 18"/>
          <p:cNvSpPr/>
          <p:nvPr/>
        </p:nvSpPr>
        <p:spPr>
          <a:xfrm>
            <a:off x="4786313" y="2814638"/>
            <a:ext cx="3786188" cy="21431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4906" y="3011091"/>
            <a:ext cx="171450" cy="17145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5222081" y="2993231"/>
            <a:ext cx="1955602" cy="20716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Challenges &amp; Learnings</a:t>
            </a:r>
            <a:endParaRPr lang="en-US" sz="12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3350419"/>
            <a:ext cx="100013" cy="100013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5186363" y="3307556"/>
            <a:ext cx="3207544" cy="5786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Reflection on resolving SQLAlchemy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AmbiguousForeignKeysError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during model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relationships setup.</a:t>
            </a:r>
            <a:endParaRPr lang="en-US" sz="950" dirty="0"/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4014788"/>
            <a:ext cx="100013" cy="100013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5186363" y="3971925"/>
            <a:ext cx="3207544" cy="3857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 of debugging the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bcrypt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version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compatibility issue that caused initial test failures.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399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2914650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All Deliverables Summary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857250" y="1071563"/>
            <a:ext cx="7429500" cy="1246584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57250" y="1259086"/>
            <a:ext cx="857250" cy="85725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6" name="Shape 3"/>
          <p:cNvSpPr/>
          <p:nvPr/>
        </p:nvSpPr>
        <p:spPr>
          <a:xfrm>
            <a:off x="1707356" y="1259086"/>
            <a:ext cx="7144" cy="857250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83" y="1516261"/>
            <a:ext cx="332184" cy="342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000250" y="1250156"/>
            <a:ext cx="4863108" cy="22502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Code Repository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2000250" y="1546622"/>
            <a:ext cx="4863108" cy="5786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FastAPI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source code, SQLAlchemy models, SQLite database, and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Pytest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suite. Maintained on GitHub with a structured commit history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demonstrating iterative development.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7149108" y="1554659"/>
            <a:ext cx="851892" cy="266105"/>
          </a:xfrm>
          <a:prstGeom prst="rect">
            <a:avLst/>
          </a:prstGeom>
          <a:solidFill>
            <a:srgbClr val="ECFDF5"/>
          </a:solidFill>
          <a:ln w="9144">
            <a:solidFill>
              <a:srgbClr val="059669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95" y="1630561"/>
            <a:ext cx="121444" cy="1143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56289" y="1618952"/>
            <a:ext cx="430411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1" dirty="0">
                <a:solidFill>
                  <a:srgbClr val="059669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READY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857250" y="2518172"/>
            <a:ext cx="7429500" cy="1246584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57250" y="2705695"/>
            <a:ext cx="857250" cy="85725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15" name="Shape 10"/>
          <p:cNvSpPr/>
          <p:nvPr/>
        </p:nvSpPr>
        <p:spPr>
          <a:xfrm>
            <a:off x="1707356" y="2705695"/>
            <a:ext cx="7144" cy="857250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" y="2962870"/>
            <a:ext cx="342900" cy="342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2000250" y="2696766"/>
            <a:ext cx="4863108" cy="22502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 Documentation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2000250" y="2993231"/>
            <a:ext cx="4863108" cy="5786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comprehensive,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LaTeX-typeset PDF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documenting all 20 endpoints. Includes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request/response formats, authentication flows, and HTTP status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codes.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7149108" y="3001268"/>
            <a:ext cx="851892" cy="266105"/>
          </a:xfrm>
          <a:prstGeom prst="rect">
            <a:avLst/>
          </a:prstGeom>
          <a:solidFill>
            <a:srgbClr val="ECFDF5"/>
          </a:solidFill>
          <a:ln w="9144">
            <a:solidFill>
              <a:srgbClr val="059669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7695" y="3077170"/>
            <a:ext cx="121444" cy="1143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56289" y="3065562"/>
            <a:ext cx="430411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1" dirty="0">
                <a:solidFill>
                  <a:srgbClr val="059669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READY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857250" y="3964781"/>
            <a:ext cx="7429500" cy="1246584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857250" y="4152305"/>
            <a:ext cx="857250" cy="85725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24" name="Shape 17"/>
          <p:cNvSpPr/>
          <p:nvPr/>
        </p:nvSpPr>
        <p:spPr>
          <a:xfrm>
            <a:off x="1707356" y="4152305"/>
            <a:ext cx="7144" cy="857250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288" y="4409480"/>
            <a:ext cx="257175" cy="3429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000250" y="4143375"/>
            <a:ext cx="4863108" cy="22502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Technical Report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2000250" y="4439841"/>
            <a:ext cx="4863108" cy="5786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5-page academic report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(Times New Roman) justifying architectural choices,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detailing testing methodologies, and including a complete GenAI usage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declaration log.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7149108" y="4447877"/>
            <a:ext cx="851892" cy="266105"/>
          </a:xfrm>
          <a:prstGeom prst="rect">
            <a:avLst/>
          </a:prstGeom>
          <a:solidFill>
            <a:srgbClr val="ECFDF5"/>
          </a:solidFill>
          <a:ln w="9144">
            <a:solidFill>
              <a:srgbClr val="059669"/>
            </a:solidFill>
            <a:prstDash val="solid"/>
          </a:ln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95" y="4523780"/>
            <a:ext cx="121444" cy="1143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456289" y="4512171"/>
            <a:ext cx="430411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1" dirty="0">
                <a:solidFill>
                  <a:srgbClr val="059669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READY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7612</Words>
  <Application>WPS 文字</Application>
  <PresentationFormat>On-screen Show (16:9)</PresentationFormat>
  <Paragraphs>390</Paragraphs>
  <Slides>12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9" baseType="lpstr">
      <vt:lpstr>Arial</vt:lpstr>
      <vt:lpstr>宋体</vt:lpstr>
      <vt:lpstr>Wingdings</vt:lpstr>
      <vt:lpstr>Inter ExtraBold</vt:lpstr>
      <vt:lpstr>苹方-简</vt:lpstr>
      <vt:lpstr>Inter ExtraBold</vt:lpstr>
      <vt:lpstr>Inter ExtraBold</vt:lpstr>
      <vt:lpstr>Inter</vt:lpstr>
      <vt:lpstr>Inter</vt:lpstr>
      <vt:lpstr>Inter</vt:lpstr>
      <vt:lpstr>Inter SemiBold</vt:lpstr>
      <vt:lpstr>Inter SemiBold</vt:lpstr>
      <vt:lpstr>Inter SemiBold</vt:lpstr>
      <vt:lpstr>monospace</vt:lpstr>
      <vt:lpstr>monospace</vt:lpstr>
      <vt:lpstr>monospace</vt:lpstr>
      <vt:lpstr>Calibri</vt:lpstr>
      <vt:lpstr>Helvetica Neue</vt:lpstr>
      <vt:lpstr>微软雅黑</vt:lpstr>
      <vt:lpstr>汉仪旗黑</vt:lpstr>
      <vt:lpstr>宋体</vt:lpstr>
      <vt:lpstr>Arial Unicode MS</vt:lpstr>
      <vt:lpstr>等线</vt:lpstr>
      <vt:lpstr>汉仪中等线KW</vt:lpstr>
      <vt:lpstr>汉仪书宋二KW</vt:lpstr>
      <vt:lpstr>华文仿宋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小c</cp:lastModifiedBy>
  <cp:revision>4</cp:revision>
  <dcterms:created xsi:type="dcterms:W3CDTF">2026-04-21T11:42:38Z</dcterms:created>
  <dcterms:modified xsi:type="dcterms:W3CDTF">2026-04-21T11:42:38Z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75B5E2D945EB31A63653E769A6D34B46_42</vt:lpwstr>
  </property>
  <property fmtid="{D5CDD505-2E9C-101B-9397-08002B2CF9AE}" pid="3" name="KSOProductBuildVer">
    <vt:lpwstr>2052-12.1.23540.23540</vt:lpwstr>
  </property>
</Properties>
</file>