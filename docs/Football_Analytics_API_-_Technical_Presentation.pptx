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8" r:id="rId14"/>
    <p:sldId id="266" r:id="rId15"/>
    <p:sldId id="267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image" Target="../media/image14.png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3" Type="http://schemas.openxmlformats.org/officeDocument/2006/relationships/notesSlide" Target="../notesSlides/notesSlide4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7.png"/><Relationship Id="rId10" Type="http://schemas.openxmlformats.org/officeDocument/2006/relationships/image" Target="../media/image16.png"/><Relationship Id="rId1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7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31.png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2.png"/><Relationship Id="rId1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0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43.png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2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3" Type="http://schemas.openxmlformats.org/officeDocument/2006/relationships/image" Target="../media/image46.png"/><Relationship Id="rId2" Type="http://schemas.openxmlformats.org/officeDocument/2006/relationships/image" Target="../media/image19.png"/><Relationship Id="rId1" Type="http://schemas.openxmlformats.org/officeDocument/2006/relationships/image" Target="../media/image45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56520" y="1670745"/>
            <a:ext cx="4830961" cy="5536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3300" b="1" kern="0" spc="-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Football Analytics API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2452985" y="2367260"/>
            <a:ext cx="4238030" cy="5536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XJCO3011 Web Services and Web Data</a:t>
            </a:r>
            <a:r>
              <a:rPr lang="en-US" sz="17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17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Coursework 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065052" y="3349526"/>
            <a:ext cx="1014095" cy="1841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Chen </a:t>
            </a: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Haotian 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220170" y="3628132"/>
            <a:ext cx="703659" cy="17323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414713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Project Overview &amp; Objectives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1143000"/>
            <a:ext cx="3779044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CORE MISSION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466255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755452" y="1423392"/>
            <a:ext cx="3595092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 a robust,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data-driven RESTful web service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Premier League football statistics.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71500" y="2020565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55452" y="1977703"/>
            <a:ext cx="3595092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Bridge the gap between raw sports data and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programmable, analytical access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71500" y="2574875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755452" y="2532013"/>
            <a:ext cx="3595092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Demonstrate advanced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API design principles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relational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modeling, and secure authentication.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71500" y="3372073"/>
            <a:ext cx="3779044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KEY CAPABILITIES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71500" y="3695328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55452" y="3652465"/>
            <a:ext cx="3493294" cy="20571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CRUD management for Teams, Players, and Matches.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71500" y="4043921"/>
            <a:ext cx="76795" cy="16000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55452" y="4001058"/>
            <a:ext cx="3595092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 data aggregation for dynamic league tables and rankings.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79169" y="1143000"/>
            <a:ext cx="3793331" cy="4000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9876" y="1858268"/>
            <a:ext cx="1059061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2563EB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20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49876" y="2386905"/>
            <a:ext cx="1059061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kern="0" spc="2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ENDPOINTS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991820" y="2810173"/>
            <a:ext cx="1375172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2563EB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20" name="Text 17"/>
          <p:cNvSpPr/>
          <p:nvPr/>
        </p:nvSpPr>
        <p:spPr>
          <a:xfrm>
            <a:off x="5991820" y="3338810"/>
            <a:ext cx="1375172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kern="0" spc="2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DATA MODELS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017716" y="3762077"/>
            <a:ext cx="1323380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2563EB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45</a:t>
            </a:r>
            <a:endParaRPr lang="en-US" sz="3300" dirty="0"/>
          </a:p>
        </p:txBody>
      </p:sp>
      <p:sp>
        <p:nvSpPr>
          <p:cNvPr id="22" name="Text 19"/>
          <p:cNvSpPr/>
          <p:nvPr/>
        </p:nvSpPr>
        <p:spPr>
          <a:xfrm>
            <a:off x="6017716" y="4290715"/>
            <a:ext cx="1323380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kern="0" spc="2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TESTS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4623792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System Architecture &amp; Technology Stack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285875"/>
            <a:ext cx="1839516" cy="2857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05508" y="1571625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744" y="1728788"/>
            <a:ext cx="225028" cy="2571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76015" y="2357438"/>
            <a:ext cx="1030486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Python 3.11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15318" y="2636044"/>
            <a:ext cx="751880" cy="121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kern="0" spc="2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CORE LOGIC</a:t>
            </a:r>
            <a:endParaRPr lang="en-US" sz="700" dirty="0"/>
          </a:p>
        </p:txBody>
      </p:sp>
      <p:sp>
        <p:nvSpPr>
          <p:cNvPr id="9" name="Text 5"/>
          <p:cNvSpPr/>
          <p:nvPr/>
        </p:nvSpPr>
        <p:spPr>
          <a:xfrm>
            <a:off x="785813" y="2936081"/>
            <a:ext cx="1410891" cy="10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Chosen for its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unparalleled ecosystem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data processing and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readability. Native async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enables non-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blocking I/O.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625328" y="1285875"/>
            <a:ext cx="1839516" cy="2857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259336" y="1571625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6498" y="1728788"/>
            <a:ext cx="257175" cy="2571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192363" y="2357438"/>
            <a:ext cx="705445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FastAPI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3078063" y="2636044"/>
            <a:ext cx="934045" cy="121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kern="0" spc="2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PRESENTATION</a:t>
            </a:r>
            <a:endParaRPr lang="en-US" sz="700" dirty="0"/>
          </a:p>
        </p:txBody>
      </p:sp>
      <p:sp>
        <p:nvSpPr>
          <p:cNvPr id="15" name="Text 10"/>
          <p:cNvSpPr/>
          <p:nvPr/>
        </p:nvSpPr>
        <p:spPr>
          <a:xfrm>
            <a:off x="2839641" y="2936081"/>
            <a:ext cx="1410891" cy="10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Delivers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high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performance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(Starlette)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strict type safety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(Pydantic). Auto-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generates interactive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Swagger UI docs.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4679156" y="1285875"/>
            <a:ext cx="1839516" cy="2857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13164" y="1571625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8180" y="1728788"/>
            <a:ext cx="321469" cy="25717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014020" y="2357438"/>
            <a:ext cx="1169789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SQLAlchemy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173861" y="2636044"/>
            <a:ext cx="850106" cy="121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kern="0" spc="2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 ACCESS</a:t>
            </a:r>
            <a:endParaRPr lang="en-US" sz="700" dirty="0"/>
          </a:p>
        </p:txBody>
      </p:sp>
      <p:sp>
        <p:nvSpPr>
          <p:cNvPr id="21" name="Text 15"/>
          <p:cNvSpPr/>
          <p:nvPr/>
        </p:nvSpPr>
        <p:spPr>
          <a:xfrm>
            <a:off x="4893469" y="2936081"/>
            <a:ext cx="1410891" cy="10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Abstracts complex SQL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into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Pythonic objects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Enforces relational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integrity and mitigates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 injection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vulnerabilities.</a:t>
            </a:r>
            <a:endParaRPr lang="en-US" sz="850" dirty="0"/>
          </a:p>
        </p:txBody>
      </p:sp>
      <p:sp>
        <p:nvSpPr>
          <p:cNvPr id="22" name="Shape 16"/>
          <p:cNvSpPr/>
          <p:nvPr/>
        </p:nvSpPr>
        <p:spPr>
          <a:xfrm>
            <a:off x="6732984" y="1285875"/>
            <a:ext cx="1839516" cy="2857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366992" y="1571625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228" y="1728788"/>
            <a:ext cx="225028" cy="25717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51812" y="2357438"/>
            <a:ext cx="601861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SQLite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7365206" y="2636044"/>
            <a:ext cx="575072" cy="121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kern="0" spc="2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STORAGE</a:t>
            </a:r>
            <a:endParaRPr lang="en-US" sz="700" dirty="0"/>
          </a:p>
        </p:txBody>
      </p:sp>
      <p:sp>
        <p:nvSpPr>
          <p:cNvPr id="27" name="Text 20"/>
          <p:cNvSpPr/>
          <p:nvPr/>
        </p:nvSpPr>
        <p:spPr>
          <a:xfrm>
            <a:off x="6947297" y="2936081"/>
            <a:ext cx="1410891" cy="10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zero-</a:t>
            </a:r>
            <a:r>
              <a:rPr lang="en-US" sz="8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configuration portability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supports standard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 operations required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demonstrating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relational modeling.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4050506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Relational Database Schema Design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285875"/>
            <a:ext cx="2476509" cy="3214688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25" y="1571625"/>
            <a:ext cx="573286" cy="24288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Team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57250" y="2178844"/>
            <a:ext cx="1895466" cy="82287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central entity storing club information including name, city, stadium, manager, and budget.</a:t>
            </a:r>
            <a:endParaRPr lang="en-US" sz="9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3382566"/>
            <a:ext cx="125016" cy="10001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89422" y="3353991"/>
            <a:ext cx="1663294" cy="27503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1-to-Many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relationship with 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Players</a:t>
            </a:r>
            <a:endParaRPr lang="en-US" sz="8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764756"/>
            <a:ext cx="125016" cy="10001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89422" y="3736181"/>
            <a:ext cx="1663294" cy="27503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1-to-Many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relationship with 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 (Home)</a:t>
            </a:r>
            <a:endParaRPr lang="en-US" sz="8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146947"/>
            <a:ext cx="125016" cy="1000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89422" y="4118372"/>
            <a:ext cx="1663294" cy="27503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1-to-Many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relationship with 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 (Away)</a:t>
            </a:r>
            <a:endParaRPr lang="en-US" sz="800" dirty="0"/>
          </a:p>
        </p:txBody>
      </p:sp>
      <p:sp>
        <p:nvSpPr>
          <p:cNvPr id="13" name="Shape 7"/>
          <p:cNvSpPr/>
          <p:nvPr/>
        </p:nvSpPr>
        <p:spPr>
          <a:xfrm>
            <a:off x="3324216" y="1285875"/>
            <a:ext cx="2481253" cy="3214688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738" y="1578769"/>
            <a:ext cx="200025" cy="2286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3957638" y="1571625"/>
            <a:ext cx="667941" cy="24288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Player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3614738" y="2178844"/>
            <a:ext cx="1900238" cy="82287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individual statistics such as goals, assists, appearances, and disciplinary cards.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4738" y="3795117"/>
            <a:ext cx="100013" cy="100013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3821906" y="3766542"/>
            <a:ext cx="1485900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to exactly </a:t>
            </a: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one Team</a:t>
            </a:r>
            <a:endParaRPr lang="en-US" sz="8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4738" y="4039791"/>
            <a:ext cx="87511" cy="1000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3809405" y="4011216"/>
            <a:ext cx="1566267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Uses </a:t>
            </a: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team_id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Foreign Key</a:t>
            </a:r>
            <a:endParaRPr lang="en-US" sz="85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4738" y="4284464"/>
            <a:ext cx="112514" cy="100013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3834408" y="4255889"/>
            <a:ext cx="1550194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Establishes a clear hierarchy</a:t>
            </a:r>
            <a:endParaRPr lang="en-US" sz="850" dirty="0"/>
          </a:p>
        </p:txBody>
      </p:sp>
      <p:sp>
        <p:nvSpPr>
          <p:cNvPr id="23" name="Shape 13"/>
          <p:cNvSpPr/>
          <p:nvPr/>
        </p:nvSpPr>
        <p:spPr>
          <a:xfrm>
            <a:off x="6086475" y="1285875"/>
            <a:ext cx="2486025" cy="3214688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1769" y="1578769"/>
            <a:ext cx="228600" cy="22860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6753244" y="1571625"/>
            <a:ext cx="664369" cy="24288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kern="0" spc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Match</a:t>
            </a:r>
            <a:endParaRPr lang="en-US" sz="1400" dirty="0"/>
          </a:p>
        </p:txBody>
      </p:sp>
      <p:sp>
        <p:nvSpPr>
          <p:cNvPr id="26" name="Text 15"/>
          <p:cNvSpPr/>
          <p:nvPr/>
        </p:nvSpPr>
        <p:spPr>
          <a:xfrm>
            <a:off x="6381769" y="2178844"/>
            <a:ext cx="1905009" cy="82287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Captures the outcome and detailed statistics of a game, including possession and shots.</a:t>
            </a:r>
            <a:endParaRPr lang="en-US" sz="95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1769" y="3795117"/>
            <a:ext cx="100013" cy="100013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6588937" y="3766542"/>
            <a:ext cx="1462683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</a:t>
            </a: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two Foreign Keys</a:t>
            </a:r>
            <a:endParaRPr lang="en-US" sz="850" dirty="0"/>
          </a:p>
        </p:txBody>
      </p:sp>
      <p:pic>
        <p:nvPicPr>
          <p:cNvPr id="29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69" y="4039791"/>
            <a:ext cx="87511" cy="100013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6576436" y="4011216"/>
            <a:ext cx="1626989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home_team_id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points to Team</a:t>
            </a:r>
            <a:endParaRPr lang="en-US" sz="800" dirty="0"/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1769" y="4284464"/>
            <a:ext cx="87511" cy="100013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6576436" y="4255889"/>
            <a:ext cx="1601986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away_team_id</a:t>
            </a:r>
            <a:r>
              <a:rPr lang="en-US" sz="8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points to Team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4604147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Core API Functionality: CRUD Operations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1007269"/>
            <a:ext cx="1600200" cy="469702"/>
          </a:xfrm>
          <a:prstGeom prst="rect">
            <a:avLst/>
          </a:prstGeom>
          <a:noFill/>
        </p:spPr>
        <p:txBody>
          <a:bodyPr wrap="square" lIns="0" tIns="170053" rIns="0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RESOURCE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171700" y="1007269"/>
            <a:ext cx="2000250" cy="469702"/>
          </a:xfrm>
          <a:prstGeom prst="rect">
            <a:avLst/>
          </a:prstGeom>
          <a:noFill/>
        </p:spPr>
        <p:txBody>
          <a:bodyPr wrap="square" lIns="0" tIns="170053" rIns="0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READ (PUBLIC)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171950" y="1007269"/>
            <a:ext cx="2000250" cy="469702"/>
          </a:xfrm>
          <a:prstGeom prst="rect">
            <a:avLst/>
          </a:prstGeom>
          <a:noFill/>
        </p:spPr>
        <p:txBody>
          <a:bodyPr wrap="square" lIns="0" tIns="170053" rIns="0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WRITE (SECURED)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172200" y="1007269"/>
            <a:ext cx="2400300" cy="469702"/>
          </a:xfrm>
          <a:prstGeom prst="rect">
            <a:avLst/>
          </a:prstGeom>
          <a:noFill/>
        </p:spPr>
        <p:txBody>
          <a:bodyPr wrap="square" lIns="0" tIns="170053" rIns="0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10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QUERY CAPABILITIES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1500" y="1476970"/>
            <a:ext cx="1600200" cy="847204"/>
          </a:xfrm>
          <a:prstGeom prst="rect">
            <a:avLst/>
          </a:prstGeom>
          <a:noFill/>
        </p:spPr>
        <p:txBody>
          <a:bodyPr wrap="square" lIns="0" tIns="255143" rIns="0" bIns="25514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Teams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71700" y="1709142"/>
            <a:ext cx="840116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10" name="Text 7"/>
          <p:cNvSpPr/>
          <p:nvPr/>
        </p:nvSpPr>
        <p:spPr>
          <a:xfrm>
            <a:off x="2171700" y="1709142"/>
            <a:ext cx="840116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/teams/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171700" y="1914860"/>
            <a:ext cx="1114425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2171700" y="1914860"/>
            <a:ext cx="1114425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/teams/{id}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71950" y="1709142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14" name="Text 11"/>
          <p:cNvSpPr/>
          <p:nvPr/>
        </p:nvSpPr>
        <p:spPr>
          <a:xfrm>
            <a:off x="4171950" y="1709142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POST, PUT, DELETE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72200" y="1719858"/>
            <a:ext cx="52328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695480" y="1719858"/>
            <a:ext cx="232172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city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1925575"/>
            <a:ext cx="646509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by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818709" y="1925575"/>
            <a:ext cx="344686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name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71500" y="2324174"/>
            <a:ext cx="1600200" cy="847204"/>
          </a:xfrm>
          <a:prstGeom prst="rect">
            <a:avLst/>
          </a:prstGeom>
          <a:noFill/>
        </p:spPr>
        <p:txBody>
          <a:bodyPr wrap="square" lIns="0" tIns="255143" rIns="0" bIns="25514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Players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171700" y="2556346"/>
            <a:ext cx="977271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21" name="Text 18"/>
          <p:cNvSpPr/>
          <p:nvPr/>
        </p:nvSpPr>
        <p:spPr>
          <a:xfrm>
            <a:off x="2171700" y="2556346"/>
            <a:ext cx="977271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/players/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171700" y="2762064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23" name="Text 20"/>
          <p:cNvSpPr/>
          <p:nvPr/>
        </p:nvSpPr>
        <p:spPr>
          <a:xfrm>
            <a:off x="2171700" y="2762064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/players/{id}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171950" y="2556346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25" name="Text 22"/>
          <p:cNvSpPr/>
          <p:nvPr/>
        </p:nvSpPr>
        <p:spPr>
          <a:xfrm>
            <a:off x="4171950" y="2556346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POST, PUT, DELETE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172200" y="2567062"/>
            <a:ext cx="52328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695480" y="2567062"/>
            <a:ext cx="1605558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team, position, nationality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172200" y="2772780"/>
            <a:ext cx="471488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 by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643688" y="2772780"/>
            <a:ext cx="1268016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goals, assists, cards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71500" y="3171379"/>
            <a:ext cx="1600200" cy="850776"/>
          </a:xfrm>
          <a:prstGeom prst="rect">
            <a:avLst/>
          </a:prstGeom>
          <a:noFill/>
        </p:spPr>
        <p:txBody>
          <a:bodyPr wrap="square" lIns="0" tIns="255143" rIns="0" bIns="25514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Matches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171700" y="3403550"/>
            <a:ext cx="977271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32" name="Text 29"/>
          <p:cNvSpPr/>
          <p:nvPr/>
        </p:nvSpPr>
        <p:spPr>
          <a:xfrm>
            <a:off x="2171700" y="3403550"/>
            <a:ext cx="977271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/matches/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2171700" y="3609268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34" name="Text 31"/>
          <p:cNvSpPr/>
          <p:nvPr/>
        </p:nvSpPr>
        <p:spPr>
          <a:xfrm>
            <a:off x="2171700" y="3609268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/matches/{id}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171950" y="3403550"/>
            <a:ext cx="1251607" cy="183952"/>
          </a:xfrm>
          <a:prstGeom prst="rect">
            <a:avLst/>
          </a:prstGeom>
          <a:solidFill>
            <a:srgbClr val="8B949E">
              <a:alpha val="10000"/>
            </a:srgbClr>
          </a:solidFill>
        </p:spPr>
      </p:sp>
      <p:sp>
        <p:nvSpPr>
          <p:cNvPr id="36" name="Text 33"/>
          <p:cNvSpPr/>
          <p:nvPr/>
        </p:nvSpPr>
        <p:spPr>
          <a:xfrm>
            <a:off x="4171950" y="3403550"/>
            <a:ext cx="1251607" cy="183952"/>
          </a:xfrm>
          <a:prstGeom prst="rect">
            <a:avLst/>
          </a:prstGeom>
          <a:noFill/>
        </p:spPr>
        <p:txBody>
          <a:bodyPr wrap="none" lIns="51054" tIns="17018" rIns="51054" bIns="1701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POST, PUT, DELETE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172200" y="3414266"/>
            <a:ext cx="52328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695480" y="3414266"/>
            <a:ext cx="834033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season, team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6172200" y="3619984"/>
            <a:ext cx="52328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695480" y="3619984"/>
            <a:ext cx="664369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date range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71500" y="4315048"/>
            <a:ext cx="8001000" cy="748308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4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596333"/>
            <a:ext cx="171450" cy="171450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1135856" y="4529361"/>
            <a:ext cx="1275159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Universal Pagination</a:t>
            </a:r>
            <a:endParaRPr lang="en-US" sz="900" dirty="0"/>
          </a:p>
        </p:txBody>
      </p:sp>
      <p:sp>
        <p:nvSpPr>
          <p:cNvPr id="44" name="Text 40"/>
          <p:cNvSpPr/>
          <p:nvPr/>
        </p:nvSpPr>
        <p:spPr>
          <a:xfrm>
            <a:off x="1135856" y="4713312"/>
            <a:ext cx="1898452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&amp; page_size parameters on all lists</a:t>
            </a:r>
            <a:endParaRPr lang="en-US" sz="750" dirty="0"/>
          </a:p>
        </p:txBody>
      </p:sp>
      <p:sp>
        <p:nvSpPr>
          <p:cNvPr id="45" name="Text 41"/>
          <p:cNvSpPr/>
          <p:nvPr/>
        </p:nvSpPr>
        <p:spPr>
          <a:xfrm>
            <a:off x="3633490" y="4529361"/>
            <a:ext cx="982266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Strict Validation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3633490" y="4713312"/>
            <a:ext cx="1902023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Pydantic schemas enforce data integrity</a:t>
            </a:r>
            <a:endParaRPr lang="en-US" sz="750" dirty="0"/>
          </a:p>
        </p:txBody>
      </p:sp>
      <p:pic>
        <p:nvPicPr>
          <p:cNvPr id="4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7539" y="4596333"/>
            <a:ext cx="128588" cy="171450"/>
          </a:xfrm>
          <a:prstGeom prst="rect">
            <a:avLst/>
          </a:prstGeom>
        </p:spPr>
      </p:pic>
      <p:sp>
        <p:nvSpPr>
          <p:cNvPr id="48" name="Text 43"/>
          <p:cNvSpPr/>
          <p:nvPr/>
        </p:nvSpPr>
        <p:spPr>
          <a:xfrm>
            <a:off x="6263283" y="4529361"/>
            <a:ext cx="1544836" cy="1553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Standardized Responses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6263283" y="4713312"/>
            <a:ext cx="2023467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JSON structures &amp; HTTP codes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70"/>
            <a:ext cx="46990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Advanced Analytics Endpoints</a:t>
            </a:r>
            <a:endParaRPr lang="en-US" sz="20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71500" y="928688"/>
            <a:ext cx="2571750" cy="2183839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71513" y="1028700"/>
            <a:ext cx="357188" cy="357188"/>
          </a:xfrm>
          <a:prstGeom prst="rect">
            <a:avLst/>
          </a:prstGeom>
          <a:solidFill>
            <a:srgbClr val="EFF6FF"/>
          </a:solidFill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381" y="1121569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43000" y="1028700"/>
            <a:ext cx="1900238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League Table</a:t>
            </a:r>
            <a:endParaRPr lang="en-US" sz="14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8" name="Text 4"/>
          <p:cNvSpPr/>
          <p:nvPr/>
        </p:nvSpPr>
        <p:spPr>
          <a:xfrm>
            <a:off x="1143000" y="1244798"/>
            <a:ext cx="1900238" cy="1460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/analytics/league-table</a:t>
            </a:r>
            <a:endParaRPr lang="en-US" sz="950" dirty="0">
              <a:solidFill>
                <a:srgbClr val="059669"/>
              </a:solidFill>
              <a:latin typeface="monospace" pitchFamily="34" charset="0"/>
              <a:ea typeface="monospace" pitchFamily="34" charset="-122"/>
              <a:cs typeface="monospace" pitchFamily="34" charset="-120"/>
            </a:endParaRPr>
          </a:p>
        </p:txBody>
      </p:sp>
      <p:sp>
        <p:nvSpPr>
          <p:cNvPr id="9" name="Text 5"/>
          <p:cNvSpPr/>
          <p:nvPr/>
        </p:nvSpPr>
        <p:spPr>
          <a:xfrm>
            <a:off x="1143000" y="1423392"/>
            <a:ext cx="1900238" cy="5422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Calculates standings from match results (points, GD, W/D/L).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86125" y="928688"/>
            <a:ext cx="2571750" cy="2183839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386138" y="1028700"/>
            <a:ext cx="357188" cy="357188"/>
          </a:xfrm>
          <a:prstGeom prst="rect">
            <a:avLst/>
          </a:prstGeom>
          <a:solidFill>
            <a:srgbClr val="EFF6FF"/>
          </a:solidFill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006" y="1121569"/>
            <a:ext cx="171450" cy="171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857625" y="1028700"/>
            <a:ext cx="1900238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Team Performance</a:t>
            </a:r>
            <a:endParaRPr lang="en-US" sz="14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3857625" y="1244798"/>
            <a:ext cx="1900238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/analytics/team-performance/{id}</a:t>
            </a:r>
            <a:endParaRPr lang="en-US" sz="950" dirty="0">
              <a:solidFill>
                <a:srgbClr val="059669"/>
              </a:solidFill>
              <a:latin typeface="monospace" pitchFamily="34" charset="0"/>
              <a:ea typeface="monospace" pitchFamily="34" charset="-122"/>
              <a:cs typeface="monospace" pitchFamily="34" charset="-12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3857625" y="1559123"/>
            <a:ext cx="1900238" cy="5422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metrics including home/away form and scoring averages.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6000750" y="928688"/>
            <a:ext cx="2571750" cy="2176695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100763" y="1028700"/>
            <a:ext cx="357188" cy="357188"/>
          </a:xfrm>
          <a:prstGeom prst="rect">
            <a:avLst/>
          </a:prstGeom>
          <a:solidFill>
            <a:srgbClr val="EFF6FF"/>
          </a:solidFill>
        </p:spPr>
      </p:sp>
      <p:sp>
        <p:nvSpPr>
          <p:cNvPr id="18" name="Text 13"/>
          <p:cNvSpPr/>
          <p:nvPr/>
        </p:nvSpPr>
        <p:spPr>
          <a:xfrm>
            <a:off x="6572250" y="1028700"/>
            <a:ext cx="1900238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Player Rankings</a:t>
            </a:r>
            <a:endParaRPr lang="en-US" sz="14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6572250" y="1244798"/>
            <a:ext cx="1900238" cy="1460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/analytics/player-rankings</a:t>
            </a:r>
            <a:endParaRPr lang="en-US" sz="950" dirty="0">
              <a:solidFill>
                <a:srgbClr val="059669"/>
              </a:solidFill>
              <a:latin typeface="monospace" pitchFamily="34" charset="0"/>
              <a:ea typeface="monospace" pitchFamily="34" charset="-122"/>
              <a:cs typeface="monospace" pitchFamily="34" charset="-12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572250" y="1423392"/>
            <a:ext cx="1900238" cy="361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players sorted by goals, assists, or other stats.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571500" y="3248258"/>
            <a:ext cx="2571750" cy="1895242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1513" y="3348270"/>
            <a:ext cx="357188" cy="357188"/>
          </a:xfrm>
          <a:prstGeom prst="rect">
            <a:avLst/>
          </a:prstGeom>
          <a:solidFill>
            <a:srgbClr val="EFF6FF"/>
          </a:solidFill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666" y="3441139"/>
            <a:ext cx="192881" cy="17145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43000" y="3348270"/>
            <a:ext cx="1900238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Head-to-Head</a:t>
            </a:r>
            <a:endParaRPr lang="en-US" sz="14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1143000" y="3564368"/>
            <a:ext cx="1900238" cy="1460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/analytics/head-to-head</a:t>
            </a:r>
            <a:endParaRPr lang="en-US" sz="950" dirty="0">
              <a:solidFill>
                <a:srgbClr val="059669"/>
              </a:solidFill>
              <a:latin typeface="monospace" pitchFamily="34" charset="0"/>
              <a:ea typeface="monospace" pitchFamily="34" charset="-122"/>
              <a:cs typeface="monospace" pitchFamily="34" charset="-12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1143000" y="3742962"/>
            <a:ext cx="1900238" cy="5422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comparisons and match outcomes between two teams.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3286125" y="3248258"/>
            <a:ext cx="2571750" cy="1895242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386138" y="3355414"/>
            <a:ext cx="357188" cy="357188"/>
          </a:xfrm>
          <a:prstGeom prst="rect">
            <a:avLst/>
          </a:prstGeom>
          <a:solidFill>
            <a:srgbClr val="EFF6FF"/>
          </a:solidFill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9722" y="3448283"/>
            <a:ext cx="150019" cy="17145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857625" y="3355414"/>
            <a:ext cx="1900238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Season Summary</a:t>
            </a:r>
            <a:endParaRPr lang="en-US" sz="14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31" name="Text 24"/>
          <p:cNvSpPr/>
          <p:nvPr/>
        </p:nvSpPr>
        <p:spPr>
          <a:xfrm>
            <a:off x="3857625" y="3571512"/>
            <a:ext cx="1900238" cy="1460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059669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GET /analytics/season-summary</a:t>
            </a:r>
            <a:endParaRPr lang="en-US" sz="950" dirty="0">
              <a:solidFill>
                <a:srgbClr val="059669"/>
              </a:solidFill>
              <a:latin typeface="monospace" pitchFamily="34" charset="0"/>
              <a:ea typeface="monospace" pitchFamily="34" charset="-122"/>
              <a:cs typeface="monospace" pitchFamily="34" charset="-120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3857625" y="3750106"/>
            <a:ext cx="1900238" cy="361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 of the season: total and average goals per match.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33" name="Shape 26"/>
          <p:cNvSpPr/>
          <p:nvPr/>
        </p:nvSpPr>
        <p:spPr>
          <a:xfrm>
            <a:off x="6000750" y="3753678"/>
            <a:ext cx="2571750" cy="891518"/>
          </a:xfrm>
          <a:prstGeom prst="rect">
            <a:avLst/>
          </a:prstGeom>
          <a:solidFill>
            <a:srgbClr val="ECFDF5"/>
          </a:solidFill>
        </p:spPr>
      </p:sp>
      <p:sp>
        <p:nvSpPr>
          <p:cNvPr id="34" name="Shape 27"/>
          <p:cNvSpPr/>
          <p:nvPr/>
        </p:nvSpPr>
        <p:spPr>
          <a:xfrm>
            <a:off x="6000750" y="3753678"/>
            <a:ext cx="28575" cy="891518"/>
          </a:xfrm>
          <a:prstGeom prst="rect">
            <a:avLst/>
          </a:prstGeom>
          <a:solidFill>
            <a:srgbClr val="059669"/>
          </a:solidFill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5050" y="4127999"/>
            <a:ext cx="107156" cy="142875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271736" y="3753678"/>
            <a:ext cx="2150269" cy="8255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endpoints show </a:t>
            </a: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complex data aggregation</a:t>
            </a: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transforming raw data into high-level football intelligence.</a:t>
            </a:r>
            <a:endParaRPr lang="en-US" sz="120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375422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Security: JWT Authentication</a:t>
            </a:r>
            <a:endParaRPr lang="en-US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71500" y="857250"/>
            <a:ext cx="3786188" cy="300355"/>
          </a:xfrm>
          <a:prstGeom prst="rect">
            <a:avLst/>
          </a:prstGeom>
          <a:noFill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4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STATELESS MECHANISM</a:t>
            </a:r>
            <a:endParaRPr lang="en-US" sz="1400" kern="0" spc="1" dirty="0">
              <a:solidFill>
                <a:srgbClr val="2563EB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71500" y="1407319"/>
            <a:ext cx="3786188" cy="1247589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88" y="1536799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78535" y="1536065"/>
            <a:ext cx="2284095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JSON Web Tokens (JWT)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8" name="Text 4"/>
          <p:cNvSpPr/>
          <p:nvPr/>
        </p:nvSpPr>
        <p:spPr>
          <a:xfrm>
            <a:off x="700088" y="1780580"/>
            <a:ext cx="3529013" cy="7461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Implemented using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python-jose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Provides a highly scalable, stateless authentication mechanism. The server does not need to maintain session state in memory or a database, reducing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overhead.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9" name="Shape 5"/>
          <p:cNvSpPr/>
          <p:nvPr/>
        </p:nvSpPr>
        <p:spPr>
          <a:xfrm>
            <a:off x="571500" y="2754920"/>
            <a:ext cx="3786188" cy="1064726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07085" y="2883535"/>
            <a:ext cx="2284095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Secure Password Hashing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00088" y="3128181"/>
            <a:ext cx="3529013" cy="559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Passwords are never stored in plaintext. They are securely hashed using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bcrypt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before being persisted to the database,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ensuring protection against data breaches.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786313" y="857250"/>
            <a:ext cx="3786188" cy="300355"/>
          </a:xfrm>
          <a:prstGeom prst="rect">
            <a:avLst/>
          </a:prstGeom>
          <a:noFill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4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ROUTE PROTECTION STRATEGY</a:t>
            </a:r>
            <a:endParaRPr lang="en-US" sz="1400" kern="0" spc="1" dirty="0">
              <a:solidFill>
                <a:srgbClr val="2563EB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786313" y="1407319"/>
            <a:ext cx="3786188" cy="1064726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536799"/>
            <a:ext cx="192881" cy="1714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14938" y="1535906"/>
            <a:ext cx="1186180" cy="1841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Public Endpoints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4914900" y="1780580"/>
            <a:ext cx="3529013" cy="559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GET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requests (retrieving teams, players, matches, and analytics) are freely accessible without authentication, allowing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data consumption.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4786313" y="2572057"/>
            <a:ext cx="3786188" cy="2137377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4900" y="2701537"/>
            <a:ext cx="150019" cy="17145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172075" y="2700655"/>
            <a:ext cx="1747520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Protected Endpoints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4914900" y="2945318"/>
            <a:ext cx="3529013" cy="372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write operations (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POST, PUT, DELETE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require a valid JWT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passed in the Authorization header.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21" name="Shape 15"/>
          <p:cNvSpPr/>
          <p:nvPr/>
        </p:nvSpPr>
        <p:spPr>
          <a:xfrm>
            <a:off x="4914900" y="3453919"/>
            <a:ext cx="1428750" cy="323255"/>
          </a:xfrm>
          <a:prstGeom prst="rect">
            <a:avLst/>
          </a:prstGeom>
          <a:solidFill>
            <a:srgbClr val="EFF6FF"/>
          </a:solidFill>
          <a:ln w="9144">
            <a:solidFill>
              <a:srgbClr val="2563EB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914900" y="3453919"/>
            <a:ext cx="1428750" cy="341630"/>
          </a:xfrm>
          <a:prstGeom prst="rect">
            <a:avLst/>
          </a:prstGeom>
          <a:noFill/>
        </p:spPr>
        <p:txBody>
          <a:bodyPr wrap="square" lIns="153035" tIns="102108" rIns="153035" bIns="102108" rtlCol="0" anchor="t">
            <a:sp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Client Request</a:t>
            </a:r>
            <a:endParaRPr lang="en-US" sz="9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7950" y="3536966"/>
            <a:ext cx="125016" cy="14287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697266" y="3539644"/>
            <a:ext cx="1746647" cy="1460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Bearer Token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4914900" y="3834324"/>
            <a:ext cx="1428750" cy="323255"/>
          </a:xfrm>
          <a:prstGeom prst="rect">
            <a:avLst/>
          </a:prstGeom>
          <a:solidFill>
            <a:srgbClr val="EFF6FF"/>
          </a:solidFill>
          <a:ln w="9144">
            <a:solidFill>
              <a:srgbClr val="2563EB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914900" y="3834324"/>
            <a:ext cx="1428750" cy="341630"/>
          </a:xfrm>
          <a:prstGeom prst="rect">
            <a:avLst/>
          </a:prstGeom>
          <a:noFill/>
        </p:spPr>
        <p:txBody>
          <a:bodyPr wrap="square" lIns="153035" tIns="102108" rIns="153035" bIns="102108" rtlCol="0" anchor="t">
            <a:sp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FastAPI Middleware</a:t>
            </a:r>
            <a:endParaRPr lang="en-US" sz="9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7950" y="3917370"/>
            <a:ext cx="125016" cy="142875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697266" y="3920049"/>
            <a:ext cx="1746647" cy="1460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Signature &amp; Expiry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4914900" y="4214729"/>
            <a:ext cx="1428750" cy="323255"/>
          </a:xfrm>
          <a:prstGeom prst="rect">
            <a:avLst/>
          </a:prstGeom>
          <a:solidFill>
            <a:srgbClr val="EFF6FF"/>
          </a:solidFill>
          <a:ln w="9144">
            <a:solidFill>
              <a:srgbClr val="2563EB"/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914900" y="4214729"/>
            <a:ext cx="1428750" cy="341630"/>
          </a:xfrm>
          <a:prstGeom prst="rect">
            <a:avLst/>
          </a:prstGeom>
          <a:noFill/>
        </p:spPr>
        <p:txBody>
          <a:bodyPr wrap="square" lIns="153035" tIns="102108" rIns="153035" bIns="102108" rtlCol="0" anchor="t">
            <a:sp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Route Handler</a:t>
            </a:r>
            <a:endParaRPr lang="en-US" sz="9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7950" y="4297775"/>
            <a:ext cx="142875" cy="142875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715125" y="4300454"/>
            <a:ext cx="1728788" cy="1460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Executes DB Operation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754041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Testing Methodology &amp; Coverage</a:t>
            </a:r>
            <a:endParaRPr lang="en-US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71500" y="1143000"/>
            <a:ext cx="3779044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RIGOROUS VALIDATION STRATEGY</a:t>
            </a:r>
            <a:endParaRPr lang="en-US" sz="1200" kern="0" spc="1" dirty="0">
              <a:solidFill>
                <a:srgbClr val="2563EB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71500" y="1770757"/>
            <a:ext cx="114300" cy="13843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■</a:t>
            </a:r>
            <a:endParaRPr lang="en-US" sz="900" dirty="0">
              <a:solidFill>
                <a:srgbClr val="059669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26263" y="1744861"/>
            <a:ext cx="1782366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Complete Test Isolation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71500" y="1991320"/>
            <a:ext cx="3779044" cy="559435"/>
          </a:xfrm>
          <a:prstGeom prst="rect">
            <a:avLst/>
          </a:prstGeom>
          <a:noFill/>
        </p:spPr>
        <p:txBody>
          <a:bodyPr wrap="square" lIns="238125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Utilizes a dedicated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in-memory SQLite database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(sqlite:///:memory:). Tables are freshly created and dropped for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single test to guarantee deterministic results.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71500" y="2780119"/>
            <a:ext cx="114300" cy="13843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■</a:t>
            </a:r>
            <a:endParaRPr lang="en-US" sz="900" dirty="0">
              <a:solidFill>
                <a:srgbClr val="059669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26263" y="2754223"/>
            <a:ext cx="1744861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Pytest Fixture Injection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71500" y="3000682"/>
            <a:ext cx="3779044" cy="559435"/>
          </a:xfrm>
          <a:prstGeom prst="rect">
            <a:avLst/>
          </a:prstGeom>
          <a:noFill/>
        </p:spPr>
        <p:txBody>
          <a:bodyPr wrap="square" lIns="238125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Heavy reliance on fixtures to streamline setup. Fixtures automatically inject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database sessions, TestClients, seed data, and valid JWT headers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71500" y="3789480"/>
            <a:ext cx="114300" cy="13843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596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■</a:t>
            </a:r>
            <a:endParaRPr lang="en-US" sz="900" dirty="0">
              <a:solidFill>
                <a:srgbClr val="059669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26263" y="3763584"/>
            <a:ext cx="2173486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Explicit Edge Case Coverage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71500" y="4010044"/>
            <a:ext cx="3779044" cy="559435"/>
          </a:xfrm>
          <a:prstGeom prst="rect">
            <a:avLst/>
          </a:prstGeom>
          <a:noFill/>
        </p:spPr>
        <p:txBody>
          <a:bodyPr wrap="square" lIns="238125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explicitly validate HTTP status codes (200, 201, 400, 401, 403, 404, 422) and handle edge cases like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invalid foreign keys and duplicate registrations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779169" y="1143000"/>
            <a:ext cx="3793331" cy="4000500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79269" y="1699320"/>
            <a:ext cx="2200275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kern="0" spc="1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45-TEST SUITE BREAKDOWN</a:t>
            </a:r>
            <a:endParaRPr lang="en-US" sz="1200" kern="0" spc="1" dirty="0">
              <a:solidFill>
                <a:srgbClr val="2563EB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656" y="2015430"/>
            <a:ext cx="2857500" cy="28575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465411" y="3194149"/>
            <a:ext cx="427990" cy="34417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28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45</a:t>
            </a:r>
            <a:endParaRPr lang="en-US" sz="28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6317139" y="3572768"/>
            <a:ext cx="724535" cy="13017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kern="0" spc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TESTS</a:t>
            </a:r>
            <a:endParaRPr lang="en-US" sz="850" kern="0" spc="1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4907756" cy="2768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Version Control Practices &amp; Commit History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000125"/>
            <a:ext cx="3474458" cy="1230511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1158180"/>
            <a:ext cx="178594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78694" y="1143000"/>
            <a:ext cx="1918097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Atomic &amp; Frequent Commits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14375" y="1387673"/>
            <a:ext cx="3188708" cy="685800"/>
          </a:xfrm>
          <a:prstGeom prst="rect">
            <a:avLst/>
          </a:prstGeom>
          <a:noFill/>
        </p:spPr>
        <p:txBody>
          <a:bodyPr wrap="square" lIns="272161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changes are committed in small, logical units (e.g., "改进API验证与认证", "解决文件相对路径报错问题"). This ensures easier tracking, debugging, and reverting if necessary.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571500" y="2394942"/>
            <a:ext cx="3474458" cy="1059061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552998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42975" y="2537817"/>
            <a:ext cx="2105620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Descriptive Commit Messages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714375" y="2782491"/>
            <a:ext cx="3188708" cy="514350"/>
          </a:xfrm>
          <a:prstGeom prst="rect">
            <a:avLst/>
          </a:prstGeom>
          <a:noFill/>
        </p:spPr>
        <p:txBody>
          <a:bodyPr wrap="square" lIns="272161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commit message clearly explains </a:t>
            </a:r>
            <a:r>
              <a:rPr lang="en-US" sz="800" b="1" dirty="0">
                <a:solidFill>
                  <a:srgbClr val="4B556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what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was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changed and </a:t>
            </a:r>
            <a:r>
              <a:rPr lang="en-US" sz="800" b="1" dirty="0">
                <a:solidFill>
                  <a:srgbClr val="4B556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why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providing a transparent history of </a:t>
            </a: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development process for all collaborators.</a:t>
            </a:r>
            <a:endParaRPr lang="en-US" sz="850" dirty="0"/>
          </a:p>
        </p:txBody>
      </p:sp>
      <p:sp>
        <p:nvSpPr>
          <p:cNvPr id="12" name="Shape 7"/>
          <p:cNvSpPr/>
          <p:nvPr/>
        </p:nvSpPr>
        <p:spPr>
          <a:xfrm>
            <a:off x="571500" y="3618309"/>
            <a:ext cx="3474458" cy="1235869"/>
          </a:xfrm>
          <a:prstGeom prst="rect">
            <a:avLst/>
          </a:prstGeom>
          <a:solidFill>
            <a:srgbClr val="F9FAFB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3776365"/>
            <a:ext cx="160734" cy="14287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60834" y="3761184"/>
            <a:ext cx="1518047" cy="17323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Structured Repository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835660" y="4021931"/>
            <a:ext cx="2719983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GitHub repository maintains a clean structure</a:t>
            </a:r>
            <a:endParaRPr lang="en-US" sz="850" dirty="0"/>
          </a:p>
        </p:txBody>
      </p:sp>
      <p:sp>
        <p:nvSpPr>
          <p:cNvPr id="16" name="Text 10"/>
          <p:cNvSpPr/>
          <p:nvPr/>
        </p:nvSpPr>
        <p:spPr>
          <a:xfrm>
            <a:off x="771525" y="4364831"/>
            <a:ext cx="2946797" cy="3107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separated directories for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2305645" y="4184452"/>
            <a:ext cx="205746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app</a:t>
            </a:r>
            <a:endParaRPr lang="en-US" sz="850" dirty="0"/>
          </a:p>
        </p:txBody>
      </p:sp>
      <p:sp>
        <p:nvSpPr>
          <p:cNvPr id="18" name="Text 12"/>
          <p:cNvSpPr/>
          <p:nvPr/>
        </p:nvSpPr>
        <p:spPr>
          <a:xfrm>
            <a:off x="2511391" y="4195167"/>
            <a:ext cx="64294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2575685" y="4184452"/>
            <a:ext cx="34290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tests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2918585" y="4195167"/>
            <a:ext cx="64294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2982878" y="4184452"/>
            <a:ext cx="274337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docs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3257215" y="4195167"/>
            <a:ext cx="298252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and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3555467" y="4184452"/>
            <a:ext cx="274337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data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771525" y="4189452"/>
            <a:ext cx="2918975" cy="3107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alongside essential files like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2305685" y="4364673"/>
            <a:ext cx="685800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.gitignore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2814955" y="4360148"/>
            <a:ext cx="233958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3048635" y="4351853"/>
            <a:ext cx="1097291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requirements.txt</a:t>
            </a:r>
            <a:endParaRPr lang="en-US" sz="850" dirty="0"/>
          </a:p>
        </p:txBody>
      </p:sp>
      <p:sp>
        <p:nvSpPr>
          <p:cNvPr id="28" name="Text 22"/>
          <p:cNvSpPr/>
          <p:nvPr/>
        </p:nvSpPr>
        <p:spPr>
          <a:xfrm>
            <a:off x="2040266" y="4541639"/>
            <a:ext cx="32147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5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3145" y="1092994"/>
            <a:ext cx="4169355" cy="17145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418032" y="2878931"/>
            <a:ext cx="2139553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 1: Repository Structure &amp; Recent Commits</a:t>
            </a:r>
            <a:endParaRPr lang="en-US" sz="75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3145" y="3143250"/>
            <a:ext cx="4169355" cy="17145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656455" y="4929188"/>
            <a:ext cx="1662708" cy="121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 2: Detailed Commit Activity Log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321844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API Documentation Overview</a:t>
            </a:r>
            <a:endParaRPr lang="en-US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71500" y="1143000"/>
            <a:ext cx="8001000" cy="671513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5" name="Shape 2"/>
          <p:cNvSpPr/>
          <p:nvPr/>
        </p:nvSpPr>
        <p:spPr>
          <a:xfrm>
            <a:off x="571500" y="1143000"/>
            <a:ext cx="28575" cy="671513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6" name="Text 3"/>
          <p:cNvSpPr/>
          <p:nvPr/>
        </p:nvSpPr>
        <p:spPr>
          <a:xfrm>
            <a:off x="571500" y="1143000"/>
            <a:ext cx="8001000" cy="725805"/>
          </a:xfrm>
          <a:prstGeom prst="rect">
            <a:avLst/>
          </a:prstGeom>
          <a:noFill/>
        </p:spPr>
        <p:txBody>
          <a:bodyPr wrap="square" lIns="170053" tIns="127508" rIns="127508" bIns="127508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API Documentation is meticulously authored using </a:t>
            </a: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LaTeX</a:t>
            </a: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delivered as a professional PDF document. It </a:t>
            </a: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serves as the definitive contract for consumers integrating with the Football Analytics API.</a:t>
            </a:r>
            <a:endParaRPr lang="en-US" sz="120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71500" y="2100263"/>
            <a:ext cx="2524116" cy="2423517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1500" y="2100263"/>
            <a:ext cx="2514600" cy="46613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9" name="Shape 6"/>
          <p:cNvSpPr/>
          <p:nvPr/>
        </p:nvSpPr>
        <p:spPr>
          <a:xfrm>
            <a:off x="571500" y="2559248"/>
            <a:ext cx="2514600" cy="7144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244030"/>
            <a:ext cx="171450" cy="1714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93140" y="2243455"/>
            <a:ext cx="2119630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Comprehensive Coverage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94" y="2766417"/>
            <a:ext cx="100013" cy="10001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21544" y="2737842"/>
            <a:ext cx="1985963" cy="5251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all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 RESTful endpoints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across Teams, Players, Matches,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Analytics, and Auth.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94" y="3387923"/>
            <a:ext cx="100013" cy="10001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21544" y="3359348"/>
            <a:ext cx="1985963" cy="5251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Clearly defines required and optional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query parameters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path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variables.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94" y="4009430"/>
            <a:ext cx="100013" cy="100013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21544" y="3980855"/>
            <a:ext cx="1985963" cy="3498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Explains the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JWT Authentication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flow and header requirements.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3300413" y="2100263"/>
            <a:ext cx="2528888" cy="2402086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9" name="Shape 12"/>
          <p:cNvSpPr/>
          <p:nvPr/>
        </p:nvSpPr>
        <p:spPr>
          <a:xfrm>
            <a:off x="3305184" y="2100263"/>
            <a:ext cx="2519372" cy="46613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20" name="Shape 13"/>
          <p:cNvSpPr/>
          <p:nvPr/>
        </p:nvSpPr>
        <p:spPr>
          <a:xfrm>
            <a:off x="3305184" y="2559248"/>
            <a:ext cx="2519372" cy="7144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8059" y="2244030"/>
            <a:ext cx="214313" cy="17145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3769528" y="2243138"/>
            <a:ext cx="1193165" cy="1841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Developer Ready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778" y="2766417"/>
            <a:ext cx="100013" cy="10001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3655228" y="2737842"/>
            <a:ext cx="1990734" cy="3498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exact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example requests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immediate testing.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778" y="3216473"/>
            <a:ext cx="100013" cy="100013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3655228" y="3187898"/>
            <a:ext cx="1990734" cy="5251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Illustrates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expected JSON responses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both success and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scenarios.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778" y="3837980"/>
            <a:ext cx="100013" cy="100013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3655228" y="3809405"/>
            <a:ext cx="1990734" cy="3498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standard HTTP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error codes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(400, 401, 404, 500).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29" name="Shape 18"/>
          <p:cNvSpPr/>
          <p:nvPr/>
        </p:nvSpPr>
        <p:spPr>
          <a:xfrm>
            <a:off x="6038869" y="2100263"/>
            <a:ext cx="2533659" cy="2402086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048356" y="2100263"/>
            <a:ext cx="2524116" cy="46613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31" name="Shape 20"/>
          <p:cNvSpPr/>
          <p:nvPr/>
        </p:nvSpPr>
        <p:spPr>
          <a:xfrm>
            <a:off x="6048356" y="2559248"/>
            <a:ext cx="2524116" cy="7144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31" y="2244030"/>
            <a:ext cx="128588" cy="17145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426835" y="2243455"/>
            <a:ext cx="1715135" cy="1841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Academic Formatting</a:t>
            </a:r>
            <a:endParaRPr lang="en-US" sz="12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34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6950" y="2766417"/>
            <a:ext cx="100013" cy="100013"/>
          </a:xfrm>
          <a:prstGeom prst="rect">
            <a:avLst/>
          </a:prstGeom>
        </p:spPr>
      </p:pic>
      <p:sp>
        <p:nvSpPr>
          <p:cNvPr id="35" name="Text 22"/>
          <p:cNvSpPr/>
          <p:nvPr/>
        </p:nvSpPr>
        <p:spPr>
          <a:xfrm>
            <a:off x="6398400" y="2737842"/>
            <a:ext cx="1995478" cy="3498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Typeset in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Times New Roman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 strict coursework guidelines.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36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6950" y="3216473"/>
            <a:ext cx="100013" cy="100013"/>
          </a:xfrm>
          <a:prstGeom prst="rect">
            <a:avLst/>
          </a:prstGeom>
        </p:spPr>
      </p:pic>
      <p:sp>
        <p:nvSpPr>
          <p:cNvPr id="37" name="Text 23"/>
          <p:cNvSpPr/>
          <p:nvPr/>
        </p:nvSpPr>
        <p:spPr>
          <a:xfrm>
            <a:off x="6398400" y="3187898"/>
            <a:ext cx="1995478" cy="5251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 with clear hierarchical headings and monospaced code blocks.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38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6950" y="3837980"/>
            <a:ext cx="100013" cy="100013"/>
          </a:xfrm>
          <a:prstGeom prst="rect">
            <a:avLst/>
          </a:prstGeom>
        </p:spPr>
      </p:pic>
      <p:sp>
        <p:nvSpPr>
          <p:cNvPr id="39" name="Text 24"/>
          <p:cNvSpPr/>
          <p:nvPr/>
        </p:nvSpPr>
        <p:spPr>
          <a:xfrm>
            <a:off x="6398400" y="3809405"/>
            <a:ext cx="1995478" cy="3498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Maintained directly alongside the codebase in the </a:t>
            </a:r>
            <a:r>
              <a:rPr lang="en-US" sz="9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/docs</a:t>
            </a: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directory.</a:t>
            </a:r>
            <a:endParaRPr lang="en-US" sz="9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1525" y="433070"/>
            <a:ext cx="4714875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API Documentation Overview（</a:t>
            </a:r>
            <a:r>
              <a:rPr lang="en-US" altLang="zh-CN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screenshot</a:t>
            </a:r>
            <a:r>
              <a:rPr lang="en-US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）</a:t>
            </a:r>
            <a:endParaRPr lang="en-US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pic>
        <p:nvPicPr>
          <p:cNvPr id="41" name="图片 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3570" y="986155"/>
            <a:ext cx="5003165" cy="37242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43639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3127177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Technical Report Highlights</a:t>
            </a:r>
            <a:endParaRPr lang="en-US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71500" y="1071563"/>
            <a:ext cx="3786188" cy="2407444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5" name="Shape 2"/>
          <p:cNvSpPr/>
          <p:nvPr/>
        </p:nvSpPr>
        <p:spPr>
          <a:xfrm>
            <a:off x="571500" y="1071563"/>
            <a:ext cx="3786188" cy="21431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94" y="1268016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7110" y="1250315"/>
            <a:ext cx="259969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Architecture &amp; Design</a:t>
            </a:r>
            <a:endParaRPr lang="en-US" sz="14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1607344"/>
            <a:ext cx="100013" cy="10001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71550" y="1564481"/>
            <a:ext cx="3207544" cy="5803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justification for selecting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FastAPI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(asynchronous performance, automatic Swagger UI) and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SQLite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(zero-configuration portability).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2271713"/>
            <a:ext cx="100013" cy="10001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71550" y="2228850"/>
            <a:ext cx="3207544" cy="3867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Explanation of the layered architecture separating routing, business logic, and data access.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2743200"/>
            <a:ext cx="100013" cy="100013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71550" y="2700338"/>
            <a:ext cx="3207544" cy="5803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Analysis of the relational database schema, including the handling of dual foreign keys for matches.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4" name="Shape 7"/>
          <p:cNvSpPr/>
          <p:nvPr/>
        </p:nvSpPr>
        <p:spPr>
          <a:xfrm>
            <a:off x="571500" y="3671888"/>
            <a:ext cx="3786188" cy="1743075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15" name="Shape 8"/>
          <p:cNvSpPr/>
          <p:nvPr/>
        </p:nvSpPr>
        <p:spPr>
          <a:xfrm>
            <a:off x="571500" y="3671888"/>
            <a:ext cx="3786188" cy="21431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094" y="3868341"/>
            <a:ext cx="214313" cy="17145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0131" y="3850481"/>
            <a:ext cx="1498402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GenAI Declaration</a:t>
            </a:r>
            <a:endParaRPr lang="en-US" sz="14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4207669"/>
            <a:ext cx="100013" cy="100013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71550" y="4164806"/>
            <a:ext cx="3207544" cy="3867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Transparent disclosure of AI assistance in code scaffolding and documentation formatting.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4679156"/>
            <a:ext cx="100013" cy="100013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971550" y="4636294"/>
            <a:ext cx="3207544" cy="5803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complete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Conversation Logs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an appendix, adhering strictly to the 5-page limit for the 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 content.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22" name="Shape 12"/>
          <p:cNvSpPr/>
          <p:nvPr/>
        </p:nvSpPr>
        <p:spPr>
          <a:xfrm>
            <a:off x="4786313" y="1071563"/>
            <a:ext cx="3786188" cy="1550194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23" name="Shape 13"/>
          <p:cNvSpPr/>
          <p:nvPr/>
        </p:nvSpPr>
        <p:spPr>
          <a:xfrm>
            <a:off x="4786313" y="1071563"/>
            <a:ext cx="3786188" cy="21431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24" name="Text 14"/>
          <p:cNvSpPr/>
          <p:nvPr/>
        </p:nvSpPr>
        <p:spPr>
          <a:xfrm>
            <a:off x="5050631" y="1250156"/>
            <a:ext cx="1753791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Testing Methodology</a:t>
            </a:r>
            <a:endParaRPr lang="en-US" sz="14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25" y="1607344"/>
            <a:ext cx="100013" cy="100013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5186363" y="1564481"/>
            <a:ext cx="3207544" cy="3867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Comprehensive overview of the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Pytest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suite 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covering 45 independent test cases.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25" y="2078831"/>
            <a:ext cx="100013" cy="100013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5186363" y="2035969"/>
            <a:ext cx="3207544" cy="5803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Explanation of testing strategies: happy paths, edge cases, authentication failures, and data validation.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29" name="Shape 17"/>
          <p:cNvSpPr/>
          <p:nvPr/>
        </p:nvSpPr>
        <p:spPr>
          <a:xfrm>
            <a:off x="4786313" y="2814638"/>
            <a:ext cx="3786188" cy="1743075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30" name="Shape 18"/>
          <p:cNvSpPr/>
          <p:nvPr/>
        </p:nvSpPr>
        <p:spPr>
          <a:xfrm>
            <a:off x="4786313" y="2814638"/>
            <a:ext cx="3786188" cy="21431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3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4906" y="3011091"/>
            <a:ext cx="171450" cy="171450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5222240" y="2993390"/>
            <a:ext cx="2599055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Challenges &amp; Learnings</a:t>
            </a:r>
            <a:endParaRPr lang="en-US" sz="1400" dirty="0">
              <a:solidFill>
                <a:srgbClr val="1F2937"/>
              </a:solidFill>
              <a:latin typeface="Inter SemiBold" pitchFamily="34" charset="0"/>
              <a:ea typeface="Inter SemiBold" pitchFamily="34" charset="-122"/>
              <a:cs typeface="Inter SemiBold" pitchFamily="34" charset="-120"/>
            </a:endParaRPr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25" y="3350419"/>
            <a:ext cx="100013" cy="100013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5186363" y="3307556"/>
            <a:ext cx="3207544" cy="5803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Reflection on resolving SQLAlchemy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AmbiguousForeignKeysError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during model 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relationships setup.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25" y="4014788"/>
            <a:ext cx="100013" cy="100013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5186363" y="3971925"/>
            <a:ext cx="3207544" cy="3867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Documentation of debugging the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bcrypt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version 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compatibility issue that caused initial test failures.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399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" y="433090"/>
            <a:ext cx="2914650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All Deliverables Summary</a:t>
            </a:r>
            <a:endParaRPr lang="en-US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857250" y="1071563"/>
            <a:ext cx="7429500" cy="1246584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57250" y="1259086"/>
            <a:ext cx="857250" cy="85725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6" name="Shape 3"/>
          <p:cNvSpPr/>
          <p:nvPr/>
        </p:nvSpPr>
        <p:spPr>
          <a:xfrm>
            <a:off x="1707356" y="1259086"/>
            <a:ext cx="7144" cy="857250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83" y="1516261"/>
            <a:ext cx="332184" cy="342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000250" y="1250156"/>
            <a:ext cx="4863108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Code Repository</a:t>
            </a:r>
            <a:endParaRPr lang="en-US" sz="14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9" name="Text 5"/>
          <p:cNvSpPr/>
          <p:nvPr/>
        </p:nvSpPr>
        <p:spPr>
          <a:xfrm>
            <a:off x="2000250" y="1546622"/>
            <a:ext cx="4863108" cy="5803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FastAPI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source code, SQLAlchemy models, SQLite database, and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Pytest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suite. Maintained on GitHub with a structured commit history 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demonstrating iterative development.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7149108" y="1554659"/>
            <a:ext cx="851892" cy="266105"/>
          </a:xfrm>
          <a:prstGeom prst="rect">
            <a:avLst/>
          </a:prstGeom>
          <a:solidFill>
            <a:srgbClr val="ECFDF5"/>
          </a:solidFill>
          <a:ln w="9144">
            <a:solidFill>
              <a:srgbClr val="059669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95" y="1630561"/>
            <a:ext cx="121444" cy="1143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456289" y="1618952"/>
            <a:ext cx="392430" cy="13843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kern="0" spc="1" dirty="0">
                <a:solidFill>
                  <a:srgbClr val="059669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READY</a:t>
            </a:r>
            <a:endParaRPr lang="en-US" sz="900" b="1" kern="0" spc="1" dirty="0">
              <a:solidFill>
                <a:srgbClr val="059669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857250" y="2518172"/>
            <a:ext cx="7429500" cy="1246584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57250" y="2705695"/>
            <a:ext cx="857250" cy="85725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15" name="Shape 10"/>
          <p:cNvSpPr/>
          <p:nvPr/>
        </p:nvSpPr>
        <p:spPr>
          <a:xfrm>
            <a:off x="1707356" y="2705695"/>
            <a:ext cx="7144" cy="857250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25" y="2962870"/>
            <a:ext cx="342900" cy="342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2000250" y="2696766"/>
            <a:ext cx="4863108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API Documentation</a:t>
            </a:r>
            <a:endParaRPr lang="en-US" sz="14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2000250" y="2993231"/>
            <a:ext cx="4863108" cy="5803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comprehensive,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LaTeX-typeset PDF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documenting all 20 endpoints. Includes detailed request/response formats, authentication flows, and HTTP status 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codes.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7149108" y="3001268"/>
            <a:ext cx="851892" cy="266105"/>
          </a:xfrm>
          <a:prstGeom prst="rect">
            <a:avLst/>
          </a:prstGeom>
          <a:solidFill>
            <a:srgbClr val="ECFDF5"/>
          </a:solidFill>
          <a:ln w="9144">
            <a:solidFill>
              <a:srgbClr val="059669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7695" y="3077170"/>
            <a:ext cx="121444" cy="1143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56289" y="3065562"/>
            <a:ext cx="392430" cy="13843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kern="0" spc="1" dirty="0">
                <a:solidFill>
                  <a:srgbClr val="059669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READY</a:t>
            </a:r>
            <a:endParaRPr lang="en-US" sz="900" b="1" kern="0" spc="1" dirty="0">
              <a:solidFill>
                <a:srgbClr val="059669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857250" y="3964781"/>
            <a:ext cx="7429500" cy="1246584"/>
          </a:xfrm>
          <a:prstGeom prst="rect">
            <a:avLst/>
          </a:prstGeom>
          <a:solidFill>
            <a:srgbClr val="FFFFFF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857250" y="4152305"/>
            <a:ext cx="857250" cy="857250"/>
          </a:xfrm>
          <a:prstGeom prst="rect">
            <a:avLst/>
          </a:prstGeom>
          <a:solidFill>
            <a:srgbClr val="F9FAFB"/>
          </a:solidFill>
        </p:spPr>
      </p:sp>
      <p:sp>
        <p:nvSpPr>
          <p:cNvPr id="24" name="Shape 17"/>
          <p:cNvSpPr/>
          <p:nvPr/>
        </p:nvSpPr>
        <p:spPr>
          <a:xfrm>
            <a:off x="1707356" y="4152305"/>
            <a:ext cx="7144" cy="857250"/>
          </a:xfrm>
          <a:prstGeom prst="rect">
            <a:avLst/>
          </a:prstGeom>
          <a:solidFill>
            <a:srgbClr val="E5E7EB"/>
          </a:solidFill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288" y="4409480"/>
            <a:ext cx="257175" cy="3429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000250" y="4143375"/>
            <a:ext cx="4863108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Technical Report</a:t>
            </a:r>
            <a:endParaRPr lang="en-US" sz="1400" b="1" dirty="0">
              <a:solidFill>
                <a:srgbClr val="1F2937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2000250" y="4439841"/>
            <a:ext cx="4863108" cy="5803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r>
              <a:rPr lang="en-US" sz="1000" dirty="0">
                <a:solidFill>
                  <a:srgbClr val="1F293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5-page academic report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(Times New Roman) justifying architectural choices, detailing testing methodologies, and including a complete GenAI usage </a:t>
            </a: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declaration log.</a:t>
            </a:r>
            <a:endParaRPr lang="en-US" sz="1050" dirty="0">
              <a:solidFill>
                <a:srgbClr val="4B5563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7149108" y="4447877"/>
            <a:ext cx="851892" cy="266105"/>
          </a:xfrm>
          <a:prstGeom prst="rect">
            <a:avLst/>
          </a:prstGeom>
          <a:solidFill>
            <a:srgbClr val="ECFDF5"/>
          </a:solidFill>
          <a:ln w="9144">
            <a:solidFill>
              <a:srgbClr val="059669"/>
            </a:solidFill>
            <a:prstDash val="solid"/>
          </a:ln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95" y="4523780"/>
            <a:ext cx="121444" cy="11430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456289" y="4512171"/>
            <a:ext cx="392430" cy="13843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kern="0" spc="1" dirty="0">
                <a:solidFill>
                  <a:srgbClr val="059669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READY</a:t>
            </a:r>
            <a:endParaRPr lang="en-US" sz="900" b="1" kern="0" spc="1" dirty="0">
              <a:solidFill>
                <a:srgbClr val="059669"/>
              </a:solidFill>
              <a:latin typeface="Inter ExtraBold" pitchFamily="34" charset="0"/>
              <a:ea typeface="Inter ExtraBold" pitchFamily="34" charset="-122"/>
              <a:cs typeface="Inter ExtraBold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7650</Words>
  <Application>WPS 文字</Application>
  <PresentationFormat>On-screen Show (16:9)</PresentationFormat>
  <Paragraphs>392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40" baseType="lpstr">
      <vt:lpstr>Arial</vt:lpstr>
      <vt:lpstr>宋体</vt:lpstr>
      <vt:lpstr>Wingdings</vt:lpstr>
      <vt:lpstr>Inter ExtraBold</vt:lpstr>
      <vt:lpstr>苹方-简</vt:lpstr>
      <vt:lpstr>Inter ExtraBold</vt:lpstr>
      <vt:lpstr>Inter ExtraBold</vt:lpstr>
      <vt:lpstr>Inter</vt:lpstr>
      <vt:lpstr>Inter</vt:lpstr>
      <vt:lpstr>Inter</vt:lpstr>
      <vt:lpstr>Inter SemiBold</vt:lpstr>
      <vt:lpstr>Inter SemiBold</vt:lpstr>
      <vt:lpstr>Inter SemiBold</vt:lpstr>
      <vt:lpstr>monospace</vt:lpstr>
      <vt:lpstr>monospace</vt:lpstr>
      <vt:lpstr>monospace</vt:lpstr>
      <vt:lpstr>Calibri</vt:lpstr>
      <vt:lpstr>Helvetica Neue</vt:lpstr>
      <vt:lpstr>微软雅黑</vt:lpstr>
      <vt:lpstr>汉仪旗黑</vt:lpstr>
      <vt:lpstr>宋体</vt:lpstr>
      <vt:lpstr>Arial Unicode MS</vt:lpstr>
      <vt:lpstr>等线</vt:lpstr>
      <vt:lpstr>汉仪中等线KW</vt:lpstr>
      <vt:lpstr>汉仪书宋二KW</vt:lpstr>
      <vt:lpstr>华文仿宋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小c</cp:lastModifiedBy>
  <cp:revision>17</cp:revision>
  <dcterms:created xsi:type="dcterms:W3CDTF">2026-04-21T12:19:36Z</dcterms:created>
  <dcterms:modified xsi:type="dcterms:W3CDTF">2026-04-21T12:19:36Z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75B5E2D945EB31A63653E769A6D34B46_42</vt:lpwstr>
  </property>
  <property fmtid="{D5CDD505-2E9C-101B-9397-08002B2CF9AE}" pid="3" name="KSOProductBuildVer">
    <vt:lpwstr>2052-12.1.23540.23540</vt:lpwstr>
  </property>
</Properties>
</file>